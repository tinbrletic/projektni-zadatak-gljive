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Binarna klasifikacija jestivih
i nejestivih gljiva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 dirty="0" err="1">
                <a:solidFill>
                  <a:srgbClr val="A5D6A7"/>
                </a:solidFill>
              </a:rPr>
              <a:t>Odabir</a:t>
            </a:r>
            <a:r>
              <a:rPr sz="1800" i="1" dirty="0">
                <a:solidFill>
                  <a:srgbClr val="A5D6A7"/>
                </a:solidFill>
              </a:rPr>
              <a:t> </a:t>
            </a:r>
            <a:r>
              <a:rPr sz="1800" i="1" dirty="0" err="1">
                <a:solidFill>
                  <a:srgbClr val="A5D6A7"/>
                </a:solidFill>
              </a:rPr>
              <a:t>optimalnog</a:t>
            </a:r>
            <a:r>
              <a:rPr sz="1800" i="1" dirty="0">
                <a:solidFill>
                  <a:srgbClr val="A5D6A7"/>
                </a:solidFill>
              </a:rPr>
              <a:t> </a:t>
            </a:r>
            <a:r>
              <a:rPr sz="1800" i="1" dirty="0" err="1">
                <a:solidFill>
                  <a:srgbClr val="A5D6A7"/>
                </a:solidFill>
              </a:rPr>
              <a:t>klasifikatora</a:t>
            </a:r>
            <a:r>
              <a:rPr sz="1800" i="1" dirty="0">
                <a:solidFill>
                  <a:srgbClr val="A5D6A7"/>
                </a:solidFill>
              </a:rPr>
              <a:t> </a:t>
            </a:r>
            <a:r>
              <a:rPr sz="1800" i="1" dirty="0" err="1">
                <a:solidFill>
                  <a:srgbClr val="A5D6A7"/>
                </a:solidFill>
              </a:rPr>
              <a:t>i</a:t>
            </a:r>
            <a:r>
              <a:rPr sz="1800" i="1" dirty="0">
                <a:solidFill>
                  <a:srgbClr val="A5D6A7"/>
                </a:solidFill>
              </a:rPr>
              <a:t> </a:t>
            </a:r>
            <a:r>
              <a:rPr sz="1800" i="1" dirty="0" err="1">
                <a:solidFill>
                  <a:srgbClr val="A5D6A7"/>
                </a:solidFill>
              </a:rPr>
              <a:t>interpretacija</a:t>
            </a:r>
            <a:r>
              <a:rPr sz="1800" i="1" dirty="0">
                <a:solidFill>
                  <a:srgbClr val="A5D6A7"/>
                </a:solidFill>
              </a:rPr>
              <a:t> </a:t>
            </a:r>
            <a:r>
              <a:rPr sz="1800" i="1" dirty="0" err="1">
                <a:solidFill>
                  <a:srgbClr val="A5D6A7"/>
                </a:solidFill>
              </a:rPr>
              <a:t>zna</a:t>
            </a:r>
            <a:r>
              <a:rPr lang="hr-HR" sz="1800" i="1" dirty="0">
                <a:solidFill>
                  <a:srgbClr val="A5D6A7"/>
                </a:solidFill>
              </a:rPr>
              <a:t>č</a:t>
            </a:r>
            <a:r>
              <a:rPr sz="1800" i="1" dirty="0" err="1">
                <a:solidFill>
                  <a:srgbClr val="A5D6A7"/>
                </a:solidFill>
              </a:rPr>
              <a:t>ajki</a:t>
            </a:r>
            <a:r>
              <a:rPr sz="1800" i="1" dirty="0">
                <a:solidFill>
                  <a:srgbClr val="A5D6A7"/>
                </a:solidFill>
              </a:rPr>
              <a:t>
</a:t>
            </a:r>
            <a:r>
              <a:rPr sz="1800" i="1" dirty="0" err="1">
                <a:solidFill>
                  <a:srgbClr val="A5D6A7"/>
                </a:solidFill>
              </a:rPr>
              <a:t>pomoću</a:t>
            </a:r>
            <a:r>
              <a:rPr sz="1800" i="1" dirty="0">
                <a:solidFill>
                  <a:srgbClr val="A5D6A7"/>
                </a:solidFill>
              </a:rPr>
              <a:t> feature </a:t>
            </a:r>
            <a:r>
              <a:rPr sz="1800" i="1" dirty="0" err="1">
                <a:solidFill>
                  <a:srgbClr val="A5D6A7"/>
                </a:solidFill>
              </a:rPr>
              <a:t>selectiona</a:t>
            </a:r>
            <a:endParaRPr sz="1800" i="1" dirty="0">
              <a:solidFill>
                <a:srgbClr val="A5D6A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00400" y="4206240"/>
            <a:ext cx="2743200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Projektni zadatak iz kolegija Skriptni jezici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B0B0B0"/>
                </a:solidFill>
              </a:rPr>
              <a:t>2025./2026.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2D"/>
                </a:solidFill>
              </a:defRPr>
            </a:pPr>
            <a:r>
              <a:t>Uvod i motivacija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828800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2333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1A1A1A"/>
                </a:solidFill>
              </a:rPr>
              <a:t>• Problem: </a:t>
            </a:r>
            <a:r>
              <a:rPr sz="1700" dirty="0">
                <a:solidFill>
                  <a:srgbClr val="1A1A1A"/>
                </a:solidFill>
              </a:rPr>
              <a:t>Pogre</a:t>
            </a:r>
            <a:r>
              <a:rPr lang="hr-HR" sz="1700" dirty="0">
                <a:solidFill>
                  <a:srgbClr val="1A1A1A"/>
                </a:solidFill>
              </a:rPr>
              <a:t>š</a:t>
            </a:r>
            <a:r>
              <a:rPr sz="1700" dirty="0" err="1">
                <a:solidFill>
                  <a:srgbClr val="1A1A1A"/>
                </a:solidFill>
              </a:rPr>
              <a:t>na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identifikacija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gljiva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mo</a:t>
            </a:r>
            <a:r>
              <a:rPr lang="hr-HR" sz="1700" dirty="0">
                <a:solidFill>
                  <a:srgbClr val="1A1A1A"/>
                </a:solidFill>
              </a:rPr>
              <a:t>ž</a:t>
            </a:r>
            <a:r>
              <a:rPr sz="1700" dirty="0">
                <a:solidFill>
                  <a:srgbClr val="1A1A1A"/>
                </a:solidFill>
              </a:rPr>
              <a:t>e </a:t>
            </a:r>
            <a:r>
              <a:rPr sz="1700" dirty="0" err="1">
                <a:solidFill>
                  <a:srgbClr val="1A1A1A"/>
                </a:solidFill>
              </a:rPr>
              <a:t>rezultirati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trovanjem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ili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smr</a:t>
            </a:r>
            <a:r>
              <a:rPr lang="hr-HR" sz="1700" dirty="0">
                <a:solidFill>
                  <a:srgbClr val="1A1A1A"/>
                </a:solidFill>
              </a:rPr>
              <a:t>ć</a:t>
            </a:r>
            <a:r>
              <a:rPr sz="1700" dirty="0">
                <a:solidFill>
                  <a:srgbClr val="1A1A1A"/>
                </a:solidFill>
              </a:rPr>
              <a:t>u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1A1A1A"/>
                </a:solidFill>
              </a:rPr>
              <a:t>• </a:t>
            </a:r>
            <a:r>
              <a:rPr sz="1700" b="1" dirty="0" err="1">
                <a:solidFill>
                  <a:srgbClr val="1A1A1A"/>
                </a:solidFill>
              </a:rPr>
              <a:t>Cilj</a:t>
            </a:r>
            <a:r>
              <a:rPr sz="1700" b="1" dirty="0">
                <a:solidFill>
                  <a:srgbClr val="1A1A1A"/>
                </a:solidFill>
              </a:rPr>
              <a:t>: </a:t>
            </a:r>
            <a:r>
              <a:rPr sz="1700" dirty="0" err="1">
                <a:solidFill>
                  <a:srgbClr val="1A1A1A"/>
                </a:solidFill>
              </a:rPr>
              <a:t>Automatska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klasifikacija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jestivosti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gljiva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pomo</a:t>
            </a:r>
            <a:r>
              <a:rPr lang="hr-HR" sz="1700" dirty="0">
                <a:solidFill>
                  <a:srgbClr val="1A1A1A"/>
                </a:solidFill>
              </a:rPr>
              <a:t>ć</a:t>
            </a:r>
            <a:r>
              <a:rPr sz="1700" dirty="0">
                <a:solidFill>
                  <a:srgbClr val="1A1A1A"/>
                </a:solidFill>
              </a:rPr>
              <a:t>u </a:t>
            </a:r>
            <a:r>
              <a:rPr sz="1700" dirty="0" err="1">
                <a:solidFill>
                  <a:srgbClr val="1A1A1A"/>
                </a:solidFill>
              </a:rPr>
              <a:t>strojnog</a:t>
            </a:r>
            <a:r>
              <a:rPr sz="1700" dirty="0">
                <a:solidFill>
                  <a:srgbClr val="1A1A1A"/>
                </a:solidFill>
              </a:rPr>
              <a:t> u</a:t>
            </a:r>
            <a:r>
              <a:rPr lang="hr-HR" sz="1700" dirty="0">
                <a:solidFill>
                  <a:srgbClr val="1A1A1A"/>
                </a:solidFill>
              </a:rPr>
              <a:t>č</a:t>
            </a:r>
            <a:r>
              <a:rPr sz="1700" dirty="0" err="1">
                <a:solidFill>
                  <a:srgbClr val="1A1A1A"/>
                </a:solidFill>
              </a:rPr>
              <a:t>enja</a:t>
            </a:r>
            <a:endParaRPr sz="1700" dirty="0">
              <a:solidFill>
                <a:srgbClr val="1A1A1A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1A1A1A"/>
                </a:solidFill>
              </a:rPr>
              <a:t>• </a:t>
            </a:r>
            <a:r>
              <a:rPr sz="1700" b="1" dirty="0" err="1">
                <a:solidFill>
                  <a:srgbClr val="1A1A1A"/>
                </a:solidFill>
              </a:rPr>
              <a:t>Dodatni</a:t>
            </a:r>
            <a:r>
              <a:rPr sz="1700" b="1" dirty="0">
                <a:solidFill>
                  <a:srgbClr val="1A1A1A"/>
                </a:solidFill>
              </a:rPr>
              <a:t> </a:t>
            </a:r>
            <a:r>
              <a:rPr sz="1700" b="1" dirty="0" err="1">
                <a:solidFill>
                  <a:srgbClr val="1A1A1A"/>
                </a:solidFill>
              </a:rPr>
              <a:t>cilj</a:t>
            </a:r>
            <a:r>
              <a:rPr sz="1700" b="1" dirty="0">
                <a:solidFill>
                  <a:srgbClr val="1A1A1A"/>
                </a:solidFill>
              </a:rPr>
              <a:t>: </a:t>
            </a:r>
            <a:r>
              <a:rPr sz="1700" dirty="0">
                <a:solidFill>
                  <a:srgbClr val="1A1A1A"/>
                </a:solidFill>
              </a:rPr>
              <a:t>Feature selection -- </a:t>
            </a:r>
            <a:r>
              <a:rPr sz="1700" dirty="0" err="1">
                <a:solidFill>
                  <a:srgbClr val="1A1A1A"/>
                </a:solidFill>
              </a:rPr>
              <a:t>koje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zna</a:t>
            </a:r>
            <a:r>
              <a:rPr lang="hr-HR" sz="1700" dirty="0">
                <a:solidFill>
                  <a:srgbClr val="1A1A1A"/>
                </a:solidFill>
              </a:rPr>
              <a:t>č</a:t>
            </a:r>
            <a:r>
              <a:rPr sz="1700" dirty="0" err="1">
                <a:solidFill>
                  <a:srgbClr val="1A1A1A"/>
                </a:solidFill>
              </a:rPr>
              <a:t>ajke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najvi</a:t>
            </a:r>
            <a:r>
              <a:rPr lang="hr-HR" sz="1700" dirty="0">
                <a:solidFill>
                  <a:srgbClr val="1A1A1A"/>
                </a:solidFill>
              </a:rPr>
              <a:t>š</a:t>
            </a:r>
            <a:r>
              <a:rPr sz="1700" dirty="0">
                <a:solidFill>
                  <a:srgbClr val="1A1A1A"/>
                </a:solidFill>
              </a:rPr>
              <a:t>e </a:t>
            </a:r>
            <a:r>
              <a:rPr sz="1700" dirty="0" err="1">
                <a:solidFill>
                  <a:srgbClr val="1A1A1A"/>
                </a:solidFill>
              </a:rPr>
              <a:t>utje</a:t>
            </a:r>
            <a:r>
              <a:rPr lang="hr-HR" sz="1700" dirty="0">
                <a:solidFill>
                  <a:srgbClr val="1A1A1A"/>
                </a:solidFill>
              </a:rPr>
              <a:t>č</a:t>
            </a:r>
            <a:r>
              <a:rPr sz="1700" dirty="0">
                <a:solidFill>
                  <a:srgbClr val="1A1A1A"/>
                </a:solidFill>
              </a:rPr>
              <a:t>u </a:t>
            </a:r>
            <a:r>
              <a:rPr sz="1700" dirty="0" err="1">
                <a:solidFill>
                  <a:srgbClr val="1A1A1A"/>
                </a:solidFill>
              </a:rPr>
              <a:t>na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jestivost</a:t>
            </a:r>
            <a:r>
              <a:rPr sz="1700" dirty="0">
                <a:solidFill>
                  <a:srgbClr val="1A1A1A"/>
                </a:solidFill>
              </a:rPr>
              <a:t>?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1A1A1A"/>
                </a:solidFill>
              </a:rPr>
              <a:t>• </a:t>
            </a:r>
            <a:r>
              <a:rPr sz="1700" b="1" dirty="0" err="1">
                <a:solidFill>
                  <a:srgbClr val="1A1A1A"/>
                </a:solidFill>
              </a:rPr>
              <a:t>Interpretabilnost</a:t>
            </a:r>
            <a:r>
              <a:rPr sz="1700" b="1" dirty="0">
                <a:solidFill>
                  <a:srgbClr val="1A1A1A"/>
                </a:solidFill>
              </a:rPr>
              <a:t>: </a:t>
            </a:r>
            <a:r>
              <a:rPr sz="1700" dirty="0" err="1">
                <a:solidFill>
                  <a:srgbClr val="1A1A1A"/>
                </a:solidFill>
              </a:rPr>
              <a:t>Razumijevanje</a:t>
            </a:r>
            <a:r>
              <a:rPr sz="1700" dirty="0">
                <a:solidFill>
                  <a:srgbClr val="1A1A1A"/>
                </a:solidFill>
              </a:rPr>
              <a:t> ZA</a:t>
            </a:r>
            <a:r>
              <a:rPr lang="hr-HR" sz="1700" dirty="0">
                <a:solidFill>
                  <a:srgbClr val="1A1A1A"/>
                </a:solidFill>
              </a:rPr>
              <a:t>Š</a:t>
            </a:r>
            <a:r>
              <a:rPr sz="1700" dirty="0">
                <a:solidFill>
                  <a:srgbClr val="1A1A1A"/>
                </a:solidFill>
              </a:rPr>
              <a:t>TO model </a:t>
            </a:r>
            <a:r>
              <a:rPr sz="1700" dirty="0" err="1">
                <a:solidFill>
                  <a:srgbClr val="1A1A1A"/>
                </a:solidFill>
              </a:rPr>
              <a:t>donosi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odluke</a:t>
            </a:r>
            <a:r>
              <a:rPr sz="1700" dirty="0">
                <a:solidFill>
                  <a:srgbClr val="1A1A1A"/>
                </a:solidFill>
              </a:rPr>
              <a:t>, ne </a:t>
            </a:r>
            <a:r>
              <a:rPr sz="1700" dirty="0" err="1">
                <a:solidFill>
                  <a:srgbClr val="1A1A1A"/>
                </a:solidFill>
              </a:rPr>
              <a:t>samo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koliko</a:t>
            </a:r>
            <a:r>
              <a:rPr sz="1700" dirty="0">
                <a:solidFill>
                  <a:srgbClr val="1A1A1A"/>
                </a:solidFill>
              </a:rPr>
              <a:t> je to</a:t>
            </a:r>
            <a:r>
              <a:rPr lang="hr-HR" sz="1700" dirty="0">
                <a:solidFill>
                  <a:srgbClr val="1A1A1A"/>
                </a:solidFill>
              </a:rPr>
              <a:t>č</a:t>
            </a:r>
            <a:r>
              <a:rPr sz="1700" dirty="0">
                <a:solidFill>
                  <a:srgbClr val="1A1A1A"/>
                </a:solidFill>
              </a:rPr>
              <a:t>an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1A1A1A"/>
                </a:solidFill>
              </a:rPr>
              <a:t>• </a:t>
            </a:r>
            <a:r>
              <a:rPr sz="1700" b="1" dirty="0" err="1">
                <a:solidFill>
                  <a:srgbClr val="1A1A1A"/>
                </a:solidFill>
              </a:rPr>
              <a:t>Prakti</a:t>
            </a:r>
            <a:r>
              <a:rPr lang="hr-HR" sz="1700" b="1" dirty="0">
                <a:solidFill>
                  <a:srgbClr val="1A1A1A"/>
                </a:solidFill>
              </a:rPr>
              <a:t>č</a:t>
            </a:r>
            <a:r>
              <a:rPr sz="1700" b="1" dirty="0" err="1">
                <a:solidFill>
                  <a:srgbClr val="1A1A1A"/>
                </a:solidFill>
              </a:rPr>
              <a:t>na</a:t>
            </a:r>
            <a:r>
              <a:rPr sz="1700" b="1" dirty="0">
                <a:solidFill>
                  <a:srgbClr val="1A1A1A"/>
                </a:solidFill>
              </a:rPr>
              <a:t> </a:t>
            </a:r>
            <a:r>
              <a:rPr sz="1700" b="1" dirty="0" err="1">
                <a:solidFill>
                  <a:srgbClr val="1A1A1A"/>
                </a:solidFill>
              </a:rPr>
              <a:t>primjena</a:t>
            </a:r>
            <a:r>
              <a:rPr sz="1700" b="1" dirty="0">
                <a:solidFill>
                  <a:srgbClr val="1A1A1A"/>
                </a:solidFill>
              </a:rPr>
              <a:t>: </a:t>
            </a:r>
            <a:r>
              <a:rPr sz="1700" dirty="0" err="1">
                <a:solidFill>
                  <a:srgbClr val="1A1A1A"/>
                </a:solidFill>
              </a:rPr>
              <a:t>Mobilne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aplikacije</a:t>
            </a:r>
            <a:r>
              <a:rPr sz="1700" dirty="0">
                <a:solidFill>
                  <a:srgbClr val="1A1A1A"/>
                </a:solidFill>
              </a:rPr>
              <a:t> za </a:t>
            </a:r>
            <a:r>
              <a:rPr sz="1700" dirty="0" err="1">
                <a:solidFill>
                  <a:srgbClr val="1A1A1A"/>
                </a:solidFill>
              </a:rPr>
              <a:t>identifikaciju</a:t>
            </a:r>
            <a:r>
              <a:rPr sz="1700" dirty="0">
                <a:solidFill>
                  <a:srgbClr val="1A1A1A"/>
                </a:solidFill>
              </a:rPr>
              <a:t>, </a:t>
            </a:r>
            <a:r>
              <a:rPr sz="1700" dirty="0" err="1">
                <a:solidFill>
                  <a:srgbClr val="1A1A1A"/>
                </a:solidFill>
              </a:rPr>
              <a:t>edukacija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skuplja</a:t>
            </a:r>
            <a:r>
              <a:rPr lang="hr-HR" sz="1700" dirty="0">
                <a:solidFill>
                  <a:srgbClr val="1A1A1A"/>
                </a:solidFill>
              </a:rPr>
              <a:t>č</a:t>
            </a:r>
            <a:r>
              <a:rPr sz="1700" dirty="0">
                <a:solidFill>
                  <a:srgbClr val="1A1A1A"/>
                </a:solidFill>
              </a:rPr>
              <a:t>a </a:t>
            </a:r>
            <a:r>
              <a:rPr sz="1700" dirty="0" err="1">
                <a:solidFill>
                  <a:srgbClr val="1A1A1A"/>
                </a:solidFill>
              </a:rPr>
              <a:t>gljiva</a:t>
            </a:r>
            <a:r>
              <a:rPr sz="1700" dirty="0">
                <a:solidFill>
                  <a:srgbClr val="1A1A1A"/>
                </a:solidFill>
              </a:rPr>
              <a:t>, </a:t>
            </a:r>
            <a:r>
              <a:rPr sz="1700" dirty="0" err="1">
                <a:solidFill>
                  <a:srgbClr val="1A1A1A"/>
                </a:solidFill>
              </a:rPr>
              <a:t>farmaceutska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istra</a:t>
            </a:r>
            <a:r>
              <a:rPr lang="hr-HR" sz="1700" dirty="0">
                <a:solidFill>
                  <a:srgbClr val="1A1A1A"/>
                </a:solidFill>
              </a:rPr>
              <a:t>ž</a:t>
            </a:r>
            <a:r>
              <a:rPr sz="1700" dirty="0" err="1">
                <a:solidFill>
                  <a:srgbClr val="1A1A1A"/>
                </a:solidFill>
              </a:rPr>
              <a:t>ivanja</a:t>
            </a:r>
            <a:r>
              <a:rPr sz="1700" dirty="0">
                <a:solidFill>
                  <a:srgbClr val="1A1A1A"/>
                </a:solidFill>
              </a:rPr>
              <a:t> </a:t>
            </a:r>
            <a:r>
              <a:rPr sz="1700" dirty="0" err="1">
                <a:solidFill>
                  <a:srgbClr val="1A1A1A"/>
                </a:solidFill>
              </a:rPr>
              <a:t>toksikologije</a:t>
            </a:r>
            <a:endParaRPr sz="1700" dirty="0">
              <a:solidFill>
                <a:srgbClr val="1A1A1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Skriptni jezici - Projektni zadatak   |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2D"/>
                </a:solidFill>
              </a:defRPr>
            </a:pPr>
            <a: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828800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UCI Mushroom Classification (Kaggle)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dirty="0">
                <a:solidFill>
                  <a:srgbClr val="1A1A1A"/>
                </a:solidFill>
              </a:rPr>
              <a:t>• Izvor: </a:t>
            </a:r>
            <a:r>
              <a:rPr sz="1600" dirty="0">
                <a:solidFill>
                  <a:srgbClr val="1A1A1A"/>
                </a:solidFill>
              </a:rPr>
              <a:t>UCI Machine Learning Repository / Kaggle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dirty="0">
                <a:solidFill>
                  <a:srgbClr val="1A1A1A"/>
                </a:solidFill>
              </a:rPr>
              <a:t>• </a:t>
            </a:r>
            <a:r>
              <a:rPr sz="1600" b="1" dirty="0" err="1">
                <a:solidFill>
                  <a:srgbClr val="1A1A1A"/>
                </a:solidFill>
              </a:rPr>
              <a:t>Velicina</a:t>
            </a:r>
            <a:r>
              <a:rPr sz="1600" b="1" dirty="0">
                <a:solidFill>
                  <a:srgbClr val="1A1A1A"/>
                </a:solidFill>
              </a:rPr>
              <a:t>: </a:t>
            </a:r>
            <a:r>
              <a:rPr sz="1600" dirty="0">
                <a:solidFill>
                  <a:srgbClr val="1A1A1A"/>
                </a:solidFill>
              </a:rPr>
              <a:t>8.124 </a:t>
            </a:r>
            <a:r>
              <a:rPr sz="1600" dirty="0" err="1">
                <a:solidFill>
                  <a:srgbClr val="1A1A1A"/>
                </a:solidFill>
              </a:rPr>
              <a:t>uzorka</a:t>
            </a:r>
            <a:r>
              <a:rPr sz="1600" dirty="0">
                <a:solidFill>
                  <a:srgbClr val="1A1A1A"/>
                </a:solidFill>
              </a:rPr>
              <a:t>, 22 </a:t>
            </a:r>
            <a:r>
              <a:rPr sz="1600" dirty="0" err="1">
                <a:solidFill>
                  <a:srgbClr val="1A1A1A"/>
                </a:solidFill>
              </a:rPr>
              <a:t>kategorijske</a:t>
            </a:r>
            <a:r>
              <a:rPr sz="1600" dirty="0">
                <a:solidFill>
                  <a:srgbClr val="1A1A1A"/>
                </a:solidFill>
              </a:rPr>
              <a:t> </a:t>
            </a:r>
            <a:r>
              <a:rPr sz="1600" dirty="0" err="1">
                <a:solidFill>
                  <a:srgbClr val="1A1A1A"/>
                </a:solidFill>
              </a:rPr>
              <a:t>zna</a:t>
            </a:r>
            <a:r>
              <a:rPr lang="hr-HR" sz="1600" dirty="0">
                <a:solidFill>
                  <a:srgbClr val="1A1A1A"/>
                </a:solidFill>
              </a:rPr>
              <a:t>č</a:t>
            </a:r>
            <a:r>
              <a:rPr sz="1600" dirty="0" err="1">
                <a:solidFill>
                  <a:srgbClr val="1A1A1A"/>
                </a:solidFill>
              </a:rPr>
              <a:t>ajke</a:t>
            </a:r>
            <a:r>
              <a:rPr sz="1600" dirty="0">
                <a:solidFill>
                  <a:srgbClr val="1A1A1A"/>
                </a:solidFill>
              </a:rPr>
              <a:t> + 1 </a:t>
            </a:r>
            <a:r>
              <a:rPr sz="1600" dirty="0" err="1">
                <a:solidFill>
                  <a:srgbClr val="1A1A1A"/>
                </a:solidFill>
              </a:rPr>
              <a:t>ciljna</a:t>
            </a:r>
            <a:r>
              <a:rPr sz="1600" dirty="0">
                <a:solidFill>
                  <a:srgbClr val="1A1A1A"/>
                </a:solidFill>
              </a:rPr>
              <a:t> </a:t>
            </a:r>
            <a:r>
              <a:rPr sz="1600" dirty="0" err="1">
                <a:solidFill>
                  <a:srgbClr val="1A1A1A"/>
                </a:solidFill>
              </a:rPr>
              <a:t>varijabla</a:t>
            </a:r>
            <a:endParaRPr sz="1600" dirty="0">
              <a:solidFill>
                <a:srgbClr val="1A1A1A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dirty="0">
                <a:solidFill>
                  <a:srgbClr val="1A1A1A"/>
                </a:solidFill>
              </a:rPr>
              <a:t>• Klase: </a:t>
            </a:r>
            <a:r>
              <a:rPr sz="1600" dirty="0">
                <a:solidFill>
                  <a:srgbClr val="1A1A1A"/>
                </a:solidFill>
              </a:rPr>
              <a:t>e (</a:t>
            </a:r>
            <a:r>
              <a:rPr sz="1600" dirty="0" err="1">
                <a:solidFill>
                  <a:srgbClr val="1A1A1A"/>
                </a:solidFill>
              </a:rPr>
              <a:t>jestiva</a:t>
            </a:r>
            <a:r>
              <a:rPr sz="1600" dirty="0">
                <a:solidFill>
                  <a:srgbClr val="1A1A1A"/>
                </a:solidFill>
              </a:rPr>
              <a:t>, </a:t>
            </a:r>
            <a:r>
              <a:rPr lang="en-GB" sz="1600" dirty="0">
                <a:solidFill>
                  <a:srgbClr val="1A1A1A"/>
                </a:solidFill>
              </a:rPr>
              <a:t>~</a:t>
            </a:r>
            <a:r>
              <a:rPr sz="1600" dirty="0">
                <a:solidFill>
                  <a:srgbClr val="1A1A1A"/>
                </a:solidFill>
              </a:rPr>
              <a:t>52%) vs. p (</a:t>
            </a:r>
            <a:r>
              <a:rPr sz="1600" dirty="0" err="1">
                <a:solidFill>
                  <a:srgbClr val="1A1A1A"/>
                </a:solidFill>
              </a:rPr>
              <a:t>otrovna</a:t>
            </a:r>
            <a:r>
              <a:rPr sz="1600" dirty="0">
                <a:solidFill>
                  <a:srgbClr val="1A1A1A"/>
                </a:solidFill>
              </a:rPr>
              <a:t>, ~48%) -- </a:t>
            </a:r>
            <a:r>
              <a:rPr sz="1600" dirty="0" err="1">
                <a:solidFill>
                  <a:srgbClr val="1A1A1A"/>
                </a:solidFill>
              </a:rPr>
              <a:t>uravnote</a:t>
            </a:r>
            <a:r>
              <a:rPr lang="hr-HR" sz="1600" dirty="0">
                <a:solidFill>
                  <a:srgbClr val="1A1A1A"/>
                </a:solidFill>
              </a:rPr>
              <a:t>ž</a:t>
            </a:r>
            <a:r>
              <a:rPr sz="1600" dirty="0" err="1">
                <a:solidFill>
                  <a:srgbClr val="1A1A1A"/>
                </a:solidFill>
              </a:rPr>
              <a:t>en</a:t>
            </a:r>
            <a:r>
              <a:rPr sz="1600" dirty="0">
                <a:solidFill>
                  <a:srgbClr val="1A1A1A"/>
                </a:solidFill>
              </a:rPr>
              <a:t> dataset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dirty="0">
                <a:solidFill>
                  <a:srgbClr val="1A1A1A"/>
                </a:solidFill>
              </a:rPr>
              <a:t>• </a:t>
            </a:r>
            <a:r>
              <a:rPr sz="1600" b="1" dirty="0" err="1">
                <a:solidFill>
                  <a:srgbClr val="1A1A1A"/>
                </a:solidFill>
              </a:rPr>
              <a:t>Predobrada</a:t>
            </a:r>
            <a:r>
              <a:rPr sz="1600" b="1" dirty="0">
                <a:solidFill>
                  <a:srgbClr val="1A1A1A"/>
                </a:solidFill>
              </a:rPr>
              <a:t>: </a:t>
            </a:r>
            <a:r>
              <a:rPr sz="1600" dirty="0">
                <a:solidFill>
                  <a:srgbClr val="1A1A1A"/>
                </a:solidFill>
              </a:rPr>
              <a:t>One-hot encoding -- 22 </a:t>
            </a:r>
            <a:r>
              <a:rPr sz="1600" dirty="0" err="1">
                <a:solidFill>
                  <a:srgbClr val="1A1A1A"/>
                </a:solidFill>
              </a:rPr>
              <a:t>zna</a:t>
            </a:r>
            <a:r>
              <a:rPr lang="hr-HR" sz="1600" dirty="0">
                <a:solidFill>
                  <a:srgbClr val="1A1A1A"/>
                </a:solidFill>
              </a:rPr>
              <a:t>č</a:t>
            </a:r>
            <a:r>
              <a:rPr sz="1600" dirty="0" err="1">
                <a:solidFill>
                  <a:srgbClr val="1A1A1A"/>
                </a:solidFill>
              </a:rPr>
              <a:t>ajki</a:t>
            </a:r>
            <a:r>
              <a:rPr sz="1600" dirty="0">
                <a:solidFill>
                  <a:srgbClr val="1A1A1A"/>
                </a:solidFill>
              </a:rPr>
              <a:t> se pro</a:t>
            </a:r>
            <a:r>
              <a:rPr lang="hr-HR" sz="1600" dirty="0">
                <a:solidFill>
                  <a:srgbClr val="1A1A1A"/>
                </a:solidFill>
              </a:rPr>
              <a:t>š</a:t>
            </a:r>
            <a:r>
              <a:rPr sz="1600" dirty="0" err="1">
                <a:solidFill>
                  <a:srgbClr val="1A1A1A"/>
                </a:solidFill>
              </a:rPr>
              <a:t>iruje</a:t>
            </a:r>
            <a:r>
              <a:rPr sz="1600" dirty="0">
                <a:solidFill>
                  <a:srgbClr val="1A1A1A"/>
                </a:solidFill>
              </a:rPr>
              <a:t> </a:t>
            </a:r>
            <a:r>
              <a:rPr sz="1600" dirty="0" err="1">
                <a:solidFill>
                  <a:srgbClr val="1A1A1A"/>
                </a:solidFill>
              </a:rPr>
              <a:t>na</a:t>
            </a:r>
            <a:r>
              <a:rPr sz="1600" dirty="0">
                <a:solidFill>
                  <a:srgbClr val="1A1A1A"/>
                </a:solidFill>
              </a:rPr>
              <a:t> 117 </a:t>
            </a:r>
            <a:r>
              <a:rPr sz="1600" dirty="0" err="1">
                <a:solidFill>
                  <a:srgbClr val="1A1A1A"/>
                </a:solidFill>
              </a:rPr>
              <a:t>binarnih</a:t>
            </a:r>
            <a:r>
              <a:rPr sz="1600" dirty="0">
                <a:solidFill>
                  <a:srgbClr val="1A1A1A"/>
                </a:solidFill>
              </a:rPr>
              <a:t> </a:t>
            </a:r>
            <a:r>
              <a:rPr sz="1600" dirty="0" err="1">
                <a:solidFill>
                  <a:srgbClr val="1A1A1A"/>
                </a:solidFill>
              </a:rPr>
              <a:t>stupaca</a:t>
            </a:r>
            <a:endParaRPr sz="1600" dirty="0">
              <a:solidFill>
                <a:srgbClr val="1A1A1A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78632"/>
              </p:ext>
            </p:extLst>
          </p:nvPr>
        </p:nvGraphicFramePr>
        <p:xfrm>
          <a:off x="640080" y="3291840"/>
          <a:ext cx="78638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Znacajka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Opis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Primjeri vrijednosti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odor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Miris gljive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none, foul, anise, 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cap-shape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Oblik klobuka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bell, conical, flat, ...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gill-size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Veli</a:t>
                      </a:r>
                      <a:r>
                        <a:rPr lang="hr-HR" dirty="0"/>
                        <a:t>č</a:t>
                      </a:r>
                      <a:r>
                        <a:rPr dirty="0" err="1"/>
                        <a:t>ina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lamela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broad, narrow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stalk-surface-*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rPr dirty="0" err="1"/>
                        <a:t>Povr</a:t>
                      </a:r>
                      <a:r>
                        <a:rPr lang="hr-HR" dirty="0"/>
                        <a:t>š</a:t>
                      </a:r>
                      <a:r>
                        <a:rPr dirty="0" err="1"/>
                        <a:t>ina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stabljike</a:t>
                      </a:r>
                      <a:endParaRPr dirty="0"/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smooth, silky, scaly, ...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spore-print-color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rPr dirty="0" err="1"/>
                        <a:t>Boja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otiska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spora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black, brown, white, 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bruises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rPr dirty="0" err="1"/>
                        <a:t>Prisutnost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modrica</a:t>
                      </a:r>
                      <a:endParaRPr dirty="0"/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t (da), f (ne)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ring-type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Tip </a:t>
                      </a:r>
                      <a:r>
                        <a:rPr dirty="0" err="1"/>
                        <a:t>prstena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pendant, evanescent, 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habitat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Stani</a:t>
                      </a:r>
                      <a:r>
                        <a:rPr lang="hr-HR" dirty="0"/>
                        <a:t>š</a:t>
                      </a:r>
                      <a:r>
                        <a:rPr dirty="0" err="1"/>
                        <a:t>te</a:t>
                      </a:r>
                      <a:endParaRPr dirty="0"/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woods, grasses, paths, ...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Skriptni jezici - Projektni zadatak   |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2D"/>
                </a:solidFill>
              </a:defRPr>
            </a:pPr>
            <a:r>
              <a:t>Eksperimentalni postav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828800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6 klasifikatora: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Random Forest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Logistic Regression (L1/L2)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SVM (RBF kernel)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K-Nearest Neighbors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Decision Tree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Naive Bayes (Gaussian)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Cross-Validation: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737360"/>
            <a:ext cx="3840480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1A1A1A"/>
                </a:solidFill>
              </a:rPr>
              <a:t>• </a:t>
            </a:r>
            <a:r>
              <a:rPr sz="1400" dirty="0" err="1">
                <a:solidFill>
                  <a:srgbClr val="1A1A1A"/>
                </a:solidFill>
              </a:rPr>
              <a:t>RepeatedStratifiedKFold</a:t>
            </a:r>
            <a:endParaRPr sz="1400" dirty="0">
              <a:solidFill>
                <a:srgbClr val="1A1A1A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1A1A1A"/>
                </a:solidFill>
              </a:rPr>
              <a:t>• 10 </a:t>
            </a:r>
            <a:r>
              <a:rPr sz="1400" dirty="0" err="1">
                <a:solidFill>
                  <a:srgbClr val="1A1A1A"/>
                </a:solidFill>
              </a:rPr>
              <a:t>preklopa</a:t>
            </a:r>
            <a:r>
              <a:rPr sz="1400" dirty="0">
                <a:solidFill>
                  <a:srgbClr val="1A1A1A"/>
                </a:solidFill>
              </a:rPr>
              <a:t> x 5 </a:t>
            </a:r>
            <a:r>
              <a:rPr sz="1400" dirty="0" err="1">
                <a:solidFill>
                  <a:srgbClr val="1A1A1A"/>
                </a:solidFill>
              </a:rPr>
              <a:t>ponavljanja</a:t>
            </a:r>
            <a:r>
              <a:rPr sz="1400" dirty="0">
                <a:solidFill>
                  <a:srgbClr val="1A1A1A"/>
                </a:solidFill>
              </a:rPr>
              <a:t> = 50 </a:t>
            </a:r>
            <a:r>
              <a:rPr sz="1400" dirty="0" err="1">
                <a:solidFill>
                  <a:srgbClr val="1A1A1A"/>
                </a:solidFill>
              </a:rPr>
              <a:t>iteracija</a:t>
            </a:r>
            <a:endParaRPr sz="1400" dirty="0">
              <a:solidFill>
                <a:srgbClr val="1A1A1A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1A1A1A"/>
                </a:solidFill>
              </a:rPr>
              <a:t>• </a:t>
            </a:r>
            <a:r>
              <a:rPr sz="1400" dirty="0" err="1">
                <a:solidFill>
                  <a:srgbClr val="1A1A1A"/>
                </a:solidFill>
              </a:rPr>
              <a:t>Stratifikacija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lang="hr-HR" sz="1400" dirty="0">
                <a:solidFill>
                  <a:srgbClr val="1A1A1A"/>
                </a:solidFill>
              </a:rPr>
              <a:t>č</a:t>
            </a:r>
            <a:r>
              <a:rPr sz="1400" dirty="0">
                <a:solidFill>
                  <a:srgbClr val="1A1A1A"/>
                </a:solidFill>
              </a:rPr>
              <a:t>uva </a:t>
            </a:r>
            <a:r>
              <a:rPr sz="1400" dirty="0" err="1">
                <a:solidFill>
                  <a:srgbClr val="1A1A1A"/>
                </a:solidFill>
              </a:rPr>
              <a:t>omjer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klasa</a:t>
            </a:r>
            <a:r>
              <a:rPr sz="1400" dirty="0">
                <a:solidFill>
                  <a:srgbClr val="1A1A1A"/>
                </a:solidFill>
              </a:rPr>
              <a:t> u </a:t>
            </a:r>
            <a:r>
              <a:rPr sz="1400" dirty="0" err="1">
                <a:solidFill>
                  <a:srgbClr val="1A1A1A"/>
                </a:solidFill>
              </a:rPr>
              <a:t>svakom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preklopu</a:t>
            </a:r>
            <a:endParaRPr sz="1400" dirty="0">
              <a:solidFill>
                <a:srgbClr val="1A1A1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46320" y="32004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Metrike evaluacije: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657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AUC-ROC, F1, Accuracy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Precision, Recall, MCC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Matrica zabune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7863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1B3A2D"/>
                </a:solidFill>
              </a:rPr>
              <a:t>Ukupno</a:t>
            </a:r>
            <a:r>
              <a:rPr sz="1400" b="1" dirty="0">
                <a:solidFill>
                  <a:srgbClr val="1B3A2D"/>
                </a:solidFill>
              </a:rPr>
              <a:t> 46 </a:t>
            </a:r>
            <a:r>
              <a:rPr sz="1400" b="1" dirty="0" err="1">
                <a:solidFill>
                  <a:srgbClr val="1B3A2D"/>
                </a:solidFill>
              </a:rPr>
              <a:t>konfiguracija</a:t>
            </a:r>
            <a:r>
              <a:rPr sz="1400" b="1" dirty="0">
                <a:solidFill>
                  <a:srgbClr val="1B3A2D"/>
                </a:solidFill>
              </a:rPr>
              <a:t> </a:t>
            </a:r>
            <a:r>
              <a:rPr sz="1400" b="1" dirty="0" err="1">
                <a:solidFill>
                  <a:srgbClr val="1B3A2D"/>
                </a:solidFill>
              </a:rPr>
              <a:t>modela</a:t>
            </a:r>
            <a:r>
              <a:rPr sz="1400" b="1" dirty="0">
                <a:solidFill>
                  <a:srgbClr val="1B3A2D"/>
                </a:solidFill>
              </a:rPr>
              <a:t>: </a:t>
            </a:r>
            <a:r>
              <a:rPr sz="1400" dirty="0">
                <a:solidFill>
                  <a:srgbClr val="1A1A1A"/>
                </a:solidFill>
              </a:rPr>
              <a:t>6 baseline (</a:t>
            </a:r>
            <a:r>
              <a:rPr sz="1400" dirty="0" err="1">
                <a:solidFill>
                  <a:srgbClr val="1A1A1A"/>
                </a:solidFill>
              </a:rPr>
              <a:t>sve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zna</a:t>
            </a:r>
            <a:r>
              <a:rPr lang="hr-HR" sz="1400" dirty="0">
                <a:solidFill>
                  <a:srgbClr val="1A1A1A"/>
                </a:solidFill>
              </a:rPr>
              <a:t>č</a:t>
            </a:r>
            <a:r>
              <a:rPr sz="1400" dirty="0" err="1">
                <a:solidFill>
                  <a:srgbClr val="1A1A1A"/>
                </a:solidFill>
              </a:rPr>
              <a:t>ajke</a:t>
            </a:r>
            <a:r>
              <a:rPr sz="1400" dirty="0">
                <a:solidFill>
                  <a:srgbClr val="1A1A1A"/>
                </a:solidFill>
              </a:rPr>
              <a:t>) + 30 stat. </a:t>
            </a:r>
            <a:r>
              <a:rPr sz="1400" dirty="0" err="1">
                <a:solidFill>
                  <a:srgbClr val="1A1A1A"/>
                </a:solidFill>
              </a:rPr>
              <a:t>selekcija</a:t>
            </a:r>
            <a:r>
              <a:rPr sz="1400" dirty="0">
                <a:solidFill>
                  <a:srgbClr val="1A1A1A"/>
                </a:solidFill>
              </a:rPr>
              <a:t> (6 </a:t>
            </a:r>
            <a:r>
              <a:rPr sz="1400" dirty="0" err="1">
                <a:solidFill>
                  <a:srgbClr val="1A1A1A"/>
                </a:solidFill>
              </a:rPr>
              <a:t>klf</a:t>
            </a:r>
            <a:r>
              <a:rPr sz="1400" dirty="0">
                <a:solidFill>
                  <a:srgbClr val="1A1A1A"/>
                </a:solidFill>
              </a:rPr>
              <a:t>. x 5 </a:t>
            </a:r>
            <a:r>
              <a:rPr sz="1400" dirty="0" err="1">
                <a:solidFill>
                  <a:srgbClr val="1A1A1A"/>
                </a:solidFill>
              </a:rPr>
              <a:t>testova</a:t>
            </a:r>
            <a:r>
              <a:rPr sz="1400" dirty="0">
                <a:solidFill>
                  <a:srgbClr val="1A1A1A"/>
                </a:solidFill>
              </a:rPr>
              <a:t>) + 10 </a:t>
            </a:r>
            <a:r>
              <a:rPr sz="1400" dirty="0" err="1">
                <a:solidFill>
                  <a:srgbClr val="1A1A1A"/>
                </a:solidFill>
              </a:rPr>
              <a:t>integriranih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selektora</a:t>
            </a:r>
            <a:endParaRPr sz="1400" dirty="0">
              <a:solidFill>
                <a:srgbClr val="1A1A1A"/>
              </a:solidFill>
            </a:endParaRPr>
          </a:p>
          <a:p>
            <a:r>
              <a:rPr sz="1400" b="1" dirty="0" err="1">
                <a:solidFill>
                  <a:srgbClr val="1B3A2D"/>
                </a:solidFill>
              </a:rPr>
              <a:t>Statisti</a:t>
            </a:r>
            <a:r>
              <a:rPr lang="hr-HR" sz="1400" b="1" dirty="0">
                <a:solidFill>
                  <a:srgbClr val="1B3A2D"/>
                </a:solidFill>
              </a:rPr>
              <a:t>č</a:t>
            </a:r>
            <a:r>
              <a:rPr sz="1400" b="1" dirty="0">
                <a:solidFill>
                  <a:srgbClr val="1B3A2D"/>
                </a:solidFill>
              </a:rPr>
              <a:t>ka </a:t>
            </a:r>
            <a:r>
              <a:rPr sz="1400" b="1" dirty="0" err="1">
                <a:solidFill>
                  <a:srgbClr val="1B3A2D"/>
                </a:solidFill>
              </a:rPr>
              <a:t>usporedba</a:t>
            </a:r>
            <a:r>
              <a:rPr sz="1400" b="1" dirty="0">
                <a:solidFill>
                  <a:srgbClr val="1B3A2D"/>
                </a:solidFill>
              </a:rPr>
              <a:t>: </a:t>
            </a:r>
            <a:r>
              <a:rPr sz="1400" dirty="0" err="1">
                <a:solidFill>
                  <a:srgbClr val="1A1A1A"/>
                </a:solidFill>
              </a:rPr>
              <a:t>Friedmanov</a:t>
            </a:r>
            <a:r>
              <a:rPr sz="1400" dirty="0">
                <a:solidFill>
                  <a:srgbClr val="1A1A1A"/>
                </a:solidFill>
              </a:rPr>
              <a:t> test, </a:t>
            </a:r>
            <a:r>
              <a:rPr sz="1400" dirty="0" err="1">
                <a:solidFill>
                  <a:srgbClr val="1A1A1A"/>
                </a:solidFill>
              </a:rPr>
              <a:t>Nemenyi</a:t>
            </a:r>
            <a:r>
              <a:rPr sz="1400" dirty="0">
                <a:solidFill>
                  <a:srgbClr val="1A1A1A"/>
                </a:solidFill>
              </a:rPr>
              <a:t> post-hoc, Pairwise Wilcoxon (Holm </a:t>
            </a:r>
            <a:r>
              <a:rPr sz="1400" dirty="0" err="1">
                <a:solidFill>
                  <a:srgbClr val="1A1A1A"/>
                </a:solidFill>
              </a:rPr>
              <a:t>korekcija</a:t>
            </a:r>
            <a:r>
              <a:rPr sz="1400" dirty="0">
                <a:solidFill>
                  <a:srgbClr val="1A1A1A"/>
                </a:solidFill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Skriptni jezici - Projektni zadatak   |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7863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2D"/>
                </a:solidFill>
              </a:defRPr>
            </a:pPr>
            <a:r>
              <a:rPr dirty="0"/>
              <a:t>Metode </a:t>
            </a:r>
            <a:r>
              <a:rPr dirty="0" err="1"/>
              <a:t>selekcije</a:t>
            </a:r>
            <a:r>
              <a:rPr dirty="0"/>
              <a:t> </a:t>
            </a:r>
            <a:r>
              <a:rPr dirty="0" err="1"/>
              <a:t>zna</a:t>
            </a:r>
            <a:r>
              <a:rPr lang="hr-HR" dirty="0"/>
              <a:t>č</a:t>
            </a:r>
            <a:r>
              <a:rPr dirty="0" err="1"/>
              <a:t>ajki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828800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29519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2E7D32"/>
                </a:solidFill>
              </a:rPr>
              <a:t>Statisti</a:t>
            </a:r>
            <a:r>
              <a:rPr lang="hr-HR" sz="1600" b="1" dirty="0">
                <a:solidFill>
                  <a:srgbClr val="2E7D32"/>
                </a:solidFill>
              </a:rPr>
              <a:t>č</a:t>
            </a:r>
            <a:r>
              <a:rPr sz="1600" b="1" dirty="0" err="1">
                <a:solidFill>
                  <a:srgbClr val="2E7D32"/>
                </a:solidFill>
              </a:rPr>
              <a:t>ke</a:t>
            </a:r>
            <a:r>
              <a:rPr sz="1600" b="1" dirty="0">
                <a:solidFill>
                  <a:srgbClr val="2E7D32"/>
                </a:solidFill>
              </a:rPr>
              <a:t> </a:t>
            </a:r>
            <a:r>
              <a:rPr sz="1600" b="1" dirty="0" err="1">
                <a:solidFill>
                  <a:srgbClr val="2E7D32"/>
                </a:solidFill>
              </a:rPr>
              <a:t>metode</a:t>
            </a:r>
            <a:r>
              <a:rPr sz="1600" b="1" dirty="0">
                <a:solidFill>
                  <a:srgbClr val="2E7D32"/>
                </a:solidFill>
              </a:rPr>
              <a:t> (Filter, top 5):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931920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</a:rPr>
              <a:t>• Mann-Whitney U test (rank-</a:t>
            </a:r>
            <a:r>
              <a:rPr sz="1300" dirty="0" err="1">
                <a:solidFill>
                  <a:srgbClr val="1A1A1A"/>
                </a:solidFill>
              </a:rPr>
              <a:t>biserijska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korelacija</a:t>
            </a:r>
            <a:r>
              <a:rPr sz="1300" dirty="0">
                <a:solidFill>
                  <a:srgbClr val="1A1A1A"/>
                </a:solidFill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</a:rPr>
              <a:t>• Wilcoxon rank-sum test (alias za MW)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</a:rPr>
              <a:t>• Kruskal-Wallis test (η² </a:t>
            </a:r>
            <a:r>
              <a:rPr sz="1300" dirty="0" err="1">
                <a:solidFill>
                  <a:srgbClr val="1A1A1A"/>
                </a:solidFill>
              </a:rPr>
              <a:t>veli</a:t>
            </a:r>
            <a:r>
              <a:rPr lang="hr-HR" sz="1300" dirty="0">
                <a:solidFill>
                  <a:srgbClr val="1A1A1A"/>
                </a:solidFill>
              </a:rPr>
              <a:t>č</a:t>
            </a:r>
            <a:r>
              <a:rPr sz="1300" dirty="0" err="1">
                <a:solidFill>
                  <a:srgbClr val="1A1A1A"/>
                </a:solidFill>
              </a:rPr>
              <a:t>ina</a:t>
            </a:r>
            <a:r>
              <a:rPr sz="1300" dirty="0">
                <a:solidFill>
                  <a:srgbClr val="1A1A1A"/>
                </a:solidFill>
              </a:rPr>
              <a:t> u</a:t>
            </a:r>
            <a:r>
              <a:rPr lang="hr-HR" sz="1300" dirty="0">
                <a:solidFill>
                  <a:srgbClr val="1A1A1A"/>
                </a:solidFill>
              </a:rPr>
              <a:t>č</a:t>
            </a:r>
            <a:r>
              <a:rPr sz="1300" dirty="0" err="1">
                <a:solidFill>
                  <a:srgbClr val="1A1A1A"/>
                </a:solidFill>
              </a:rPr>
              <a:t>inka</a:t>
            </a:r>
            <a:r>
              <a:rPr sz="1300" dirty="0">
                <a:solidFill>
                  <a:srgbClr val="1A1A1A"/>
                </a:solidFill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</a:rPr>
              <a:t>• Chi-square test (Cramer-</a:t>
            </a:r>
            <a:r>
              <a:rPr sz="1300" dirty="0" err="1">
                <a:solidFill>
                  <a:srgbClr val="1A1A1A"/>
                </a:solidFill>
              </a:rPr>
              <a:t>ov</a:t>
            </a:r>
            <a:r>
              <a:rPr sz="1300" dirty="0">
                <a:solidFill>
                  <a:srgbClr val="1A1A1A"/>
                </a:solidFill>
              </a:rPr>
              <a:t> V)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</a:rPr>
              <a:t>• Kolmogorov-Smirnov test (KS </a:t>
            </a:r>
            <a:r>
              <a:rPr sz="1300" dirty="0" err="1">
                <a:solidFill>
                  <a:srgbClr val="1A1A1A"/>
                </a:solidFill>
              </a:rPr>
              <a:t>statistika</a:t>
            </a:r>
            <a:r>
              <a:rPr sz="1300" dirty="0">
                <a:solidFill>
                  <a:srgbClr val="1A1A1A"/>
                </a:solidFill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3931920" cy="8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A1A1A"/>
                </a:solidFill>
              </a:rPr>
              <a:t>• In-CV </a:t>
            </a:r>
            <a:r>
              <a:rPr sz="1200" dirty="0" err="1">
                <a:solidFill>
                  <a:srgbClr val="1A1A1A"/>
                </a:solidFill>
              </a:rPr>
              <a:t>selekcija</a:t>
            </a:r>
            <a:r>
              <a:rPr sz="1200" dirty="0">
                <a:solidFill>
                  <a:srgbClr val="1A1A1A"/>
                </a:solidFill>
              </a:rPr>
              <a:t> (</a:t>
            </a:r>
            <a:r>
              <a:rPr sz="1200" dirty="0" err="1">
                <a:solidFill>
                  <a:srgbClr val="1A1A1A"/>
                </a:solidFill>
              </a:rPr>
              <a:t>unutar</a:t>
            </a:r>
            <a:r>
              <a:rPr sz="1200" dirty="0">
                <a:solidFill>
                  <a:srgbClr val="1A1A1A"/>
                </a:solidFill>
              </a:rPr>
              <a:t> </a:t>
            </a:r>
            <a:r>
              <a:rPr sz="1200" dirty="0" err="1">
                <a:solidFill>
                  <a:srgbClr val="1A1A1A"/>
                </a:solidFill>
              </a:rPr>
              <a:t>svakog</a:t>
            </a:r>
            <a:r>
              <a:rPr sz="1200" dirty="0">
                <a:solidFill>
                  <a:srgbClr val="1A1A1A"/>
                </a:solidFill>
              </a:rPr>
              <a:t> </a:t>
            </a:r>
            <a:r>
              <a:rPr sz="1200" dirty="0" err="1">
                <a:solidFill>
                  <a:srgbClr val="1A1A1A"/>
                </a:solidFill>
              </a:rPr>
              <a:t>preklopa</a:t>
            </a:r>
            <a:r>
              <a:rPr sz="1200" dirty="0">
                <a:solidFill>
                  <a:srgbClr val="1A1A1A"/>
                </a:solidFill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A1A1A"/>
                </a:solidFill>
              </a:rPr>
              <a:t>• Benjamini-Hochberg FDR </a:t>
            </a:r>
            <a:r>
              <a:rPr sz="1200" dirty="0" err="1">
                <a:solidFill>
                  <a:srgbClr val="1A1A1A"/>
                </a:solidFill>
              </a:rPr>
              <a:t>korekcija</a:t>
            </a:r>
            <a:endParaRPr sz="1200" dirty="0">
              <a:solidFill>
                <a:srgbClr val="1A1A1A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A1A1A"/>
                </a:solidFill>
              </a:rPr>
              <a:t>• </a:t>
            </a:r>
            <a:r>
              <a:rPr sz="1200" dirty="0" err="1">
                <a:solidFill>
                  <a:srgbClr val="1A1A1A"/>
                </a:solidFill>
              </a:rPr>
              <a:t>Minimalni</a:t>
            </a:r>
            <a:r>
              <a:rPr sz="1200" dirty="0">
                <a:solidFill>
                  <a:srgbClr val="1A1A1A"/>
                </a:solidFill>
              </a:rPr>
              <a:t> </a:t>
            </a:r>
            <a:r>
              <a:rPr sz="1200" dirty="0" err="1">
                <a:solidFill>
                  <a:srgbClr val="1A1A1A"/>
                </a:solidFill>
              </a:rPr>
              <a:t>prag</a:t>
            </a:r>
            <a:r>
              <a:rPr sz="1200" dirty="0">
                <a:solidFill>
                  <a:srgbClr val="1A1A1A"/>
                </a:solidFill>
              </a:rPr>
              <a:t> </a:t>
            </a:r>
            <a:r>
              <a:rPr sz="1200" dirty="0" err="1">
                <a:solidFill>
                  <a:srgbClr val="1A1A1A"/>
                </a:solidFill>
              </a:rPr>
              <a:t>veli</a:t>
            </a:r>
            <a:r>
              <a:rPr lang="hr-HR" sz="1200" dirty="0">
                <a:solidFill>
                  <a:srgbClr val="1A1A1A"/>
                </a:solidFill>
              </a:rPr>
              <a:t>č</a:t>
            </a:r>
            <a:r>
              <a:rPr sz="1200" dirty="0" err="1">
                <a:solidFill>
                  <a:srgbClr val="1A1A1A"/>
                </a:solidFill>
              </a:rPr>
              <a:t>ine</a:t>
            </a:r>
            <a:r>
              <a:rPr sz="1200" dirty="0">
                <a:solidFill>
                  <a:srgbClr val="1A1A1A"/>
                </a:solidFill>
              </a:rPr>
              <a:t> u</a:t>
            </a:r>
            <a:r>
              <a:rPr lang="hr-HR" sz="1200" dirty="0">
                <a:solidFill>
                  <a:srgbClr val="1A1A1A"/>
                </a:solidFill>
              </a:rPr>
              <a:t>č</a:t>
            </a:r>
            <a:r>
              <a:rPr sz="1200" dirty="0" err="1">
                <a:solidFill>
                  <a:srgbClr val="1A1A1A"/>
                </a:solidFill>
              </a:rPr>
              <a:t>inka</a:t>
            </a:r>
            <a:r>
              <a:rPr sz="1200" dirty="0">
                <a:solidFill>
                  <a:srgbClr val="1A1A1A"/>
                </a:solidFill>
              </a:rPr>
              <a:t> &gt;= 0.10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Integrirane metode (Embedded):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37360"/>
            <a:ext cx="3840480" cy="1497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</a:rPr>
              <a:t>• </a:t>
            </a:r>
            <a:r>
              <a:rPr sz="1300" dirty="0" err="1">
                <a:solidFill>
                  <a:srgbClr val="1A1A1A"/>
                </a:solidFill>
              </a:rPr>
              <a:t>SelectFromModel</a:t>
            </a:r>
            <a:r>
              <a:rPr sz="1300" dirty="0">
                <a:solidFill>
                  <a:srgbClr val="1A1A1A"/>
                </a:solidFill>
              </a:rPr>
              <a:t> (L1-LR): L1 </a:t>
            </a:r>
            <a:r>
              <a:rPr sz="1300" dirty="0" err="1">
                <a:solidFill>
                  <a:srgbClr val="1A1A1A"/>
                </a:solidFill>
              </a:rPr>
              <a:t>regularizacija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forsira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koeficijente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na</a:t>
            </a:r>
            <a:r>
              <a:rPr sz="1300" dirty="0">
                <a:solidFill>
                  <a:srgbClr val="1A1A1A"/>
                </a:solidFill>
              </a:rPr>
              <a:t> 0 -&gt; ~117 </a:t>
            </a:r>
            <a:r>
              <a:rPr sz="1300" dirty="0" err="1">
                <a:solidFill>
                  <a:srgbClr val="1A1A1A"/>
                </a:solidFill>
              </a:rPr>
              <a:t>zna</a:t>
            </a:r>
            <a:r>
              <a:rPr lang="hr-HR" sz="1300" dirty="0">
                <a:solidFill>
                  <a:srgbClr val="1A1A1A"/>
                </a:solidFill>
              </a:rPr>
              <a:t>č</a:t>
            </a:r>
            <a:r>
              <a:rPr sz="1300" dirty="0" err="1">
                <a:solidFill>
                  <a:srgbClr val="1A1A1A"/>
                </a:solidFill>
              </a:rPr>
              <a:t>ajki</a:t>
            </a:r>
            <a:endParaRPr sz="1300" dirty="0">
              <a:solidFill>
                <a:srgbClr val="1A1A1A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</a:rPr>
              <a:t>• </a:t>
            </a:r>
            <a:r>
              <a:rPr sz="1300" dirty="0" err="1">
                <a:solidFill>
                  <a:srgbClr val="1A1A1A"/>
                </a:solidFill>
              </a:rPr>
              <a:t>SelectFromModel</a:t>
            </a:r>
            <a:r>
              <a:rPr sz="1300" dirty="0">
                <a:solidFill>
                  <a:srgbClr val="1A1A1A"/>
                </a:solidFill>
              </a:rPr>
              <a:t> (RF): Gini importance, </a:t>
            </a:r>
            <a:r>
              <a:rPr sz="1300" dirty="0" err="1">
                <a:solidFill>
                  <a:srgbClr val="1A1A1A"/>
                </a:solidFill>
              </a:rPr>
              <a:t>prag</a:t>
            </a:r>
            <a:r>
              <a:rPr sz="1300" dirty="0">
                <a:solidFill>
                  <a:srgbClr val="1A1A1A"/>
                </a:solidFill>
              </a:rPr>
              <a:t> = </a:t>
            </a:r>
            <a:r>
              <a:rPr sz="1300" dirty="0" err="1">
                <a:solidFill>
                  <a:srgbClr val="1A1A1A"/>
                </a:solidFill>
              </a:rPr>
              <a:t>medijan</a:t>
            </a:r>
            <a:r>
              <a:rPr sz="1300" dirty="0">
                <a:solidFill>
                  <a:srgbClr val="1A1A1A"/>
                </a:solidFill>
              </a:rPr>
              <a:t> -&gt; ~59 </a:t>
            </a:r>
            <a:r>
              <a:rPr sz="1300" dirty="0" err="1">
                <a:solidFill>
                  <a:srgbClr val="1A1A1A"/>
                </a:solidFill>
              </a:rPr>
              <a:t>zna</a:t>
            </a:r>
            <a:r>
              <a:rPr lang="hr-HR" sz="1300" dirty="0">
                <a:solidFill>
                  <a:srgbClr val="1A1A1A"/>
                </a:solidFill>
              </a:rPr>
              <a:t>č</a:t>
            </a:r>
            <a:r>
              <a:rPr sz="1300" dirty="0" err="1">
                <a:solidFill>
                  <a:srgbClr val="1A1A1A"/>
                </a:solidFill>
              </a:rPr>
              <a:t>ajki</a:t>
            </a:r>
            <a:r>
              <a:rPr sz="1300" dirty="0">
                <a:solidFill>
                  <a:srgbClr val="1A1A1A"/>
                </a:solidFill>
              </a:rPr>
              <a:t> (50% </a:t>
            </a:r>
            <a:r>
              <a:rPr sz="1300" dirty="0" err="1">
                <a:solidFill>
                  <a:srgbClr val="1A1A1A"/>
                </a:solidFill>
              </a:rPr>
              <a:t>redukcija</a:t>
            </a:r>
            <a:r>
              <a:rPr sz="1300" dirty="0">
                <a:solidFill>
                  <a:srgbClr val="1A1A1A"/>
                </a:solidFill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</a:rPr>
              <a:t>• RFECV (L1-LR): </a:t>
            </a:r>
            <a:r>
              <a:rPr sz="1300" dirty="0" err="1">
                <a:solidFill>
                  <a:srgbClr val="1A1A1A"/>
                </a:solidFill>
              </a:rPr>
              <a:t>Rekurzivna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eliminacija</a:t>
            </a:r>
            <a:r>
              <a:rPr sz="1300" dirty="0">
                <a:solidFill>
                  <a:srgbClr val="1A1A1A"/>
                </a:solidFill>
              </a:rPr>
              <a:t> s CV -&gt; ~29 </a:t>
            </a:r>
            <a:r>
              <a:rPr sz="1300" dirty="0" err="1">
                <a:solidFill>
                  <a:srgbClr val="1A1A1A"/>
                </a:solidFill>
              </a:rPr>
              <a:t>zna</a:t>
            </a:r>
            <a:r>
              <a:rPr lang="hr-HR" sz="1300" dirty="0">
                <a:solidFill>
                  <a:srgbClr val="1A1A1A"/>
                </a:solidFill>
              </a:rPr>
              <a:t>č</a:t>
            </a:r>
            <a:r>
              <a:rPr sz="1300" dirty="0" err="1">
                <a:solidFill>
                  <a:srgbClr val="1A1A1A"/>
                </a:solidFill>
              </a:rPr>
              <a:t>ajki</a:t>
            </a:r>
            <a:r>
              <a:rPr sz="1300" dirty="0">
                <a:solidFill>
                  <a:srgbClr val="1A1A1A"/>
                </a:solidFill>
              </a:rPr>
              <a:t> (75% </a:t>
            </a:r>
            <a:r>
              <a:rPr sz="1300" dirty="0" err="1">
                <a:solidFill>
                  <a:srgbClr val="1A1A1A"/>
                </a:solidFill>
              </a:rPr>
              <a:t>redukcija</a:t>
            </a:r>
            <a:r>
              <a:rPr sz="1300" dirty="0">
                <a:solidFill>
                  <a:srgbClr val="1A1A1A"/>
                </a:solidFill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4114800"/>
            <a:ext cx="38404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 err="1">
                <a:solidFill>
                  <a:srgbClr val="1B3A2D"/>
                </a:solidFill>
              </a:rPr>
              <a:t>Redukcija</a:t>
            </a:r>
            <a:r>
              <a:rPr sz="1300" b="1" dirty="0">
                <a:solidFill>
                  <a:srgbClr val="1B3A2D"/>
                </a:solidFill>
              </a:rPr>
              <a:t> </a:t>
            </a:r>
            <a:r>
              <a:rPr sz="1300" b="1" dirty="0" err="1">
                <a:solidFill>
                  <a:srgbClr val="1B3A2D"/>
                </a:solidFill>
              </a:rPr>
              <a:t>dimenzionalnosti</a:t>
            </a:r>
            <a:r>
              <a:rPr sz="1300" b="1" dirty="0">
                <a:solidFill>
                  <a:srgbClr val="1B3A2D"/>
                </a:solidFill>
              </a:rPr>
              <a:t>:</a:t>
            </a:r>
          </a:p>
          <a:p>
            <a:r>
              <a:rPr sz="1300" b="1" dirty="0">
                <a:solidFill>
                  <a:srgbClr val="2E7D32"/>
                </a:solidFill>
              </a:rPr>
              <a:t>117 -&gt; 59 </a:t>
            </a:r>
            <a:r>
              <a:rPr sz="1300" b="1" dirty="0" err="1">
                <a:solidFill>
                  <a:srgbClr val="2E7D32"/>
                </a:solidFill>
              </a:rPr>
              <a:t>zna</a:t>
            </a:r>
            <a:r>
              <a:rPr lang="hr-HR" sz="1300" b="1" dirty="0">
                <a:solidFill>
                  <a:srgbClr val="2E7D32"/>
                </a:solidFill>
              </a:rPr>
              <a:t>č</a:t>
            </a:r>
            <a:r>
              <a:rPr sz="1300" b="1" dirty="0" err="1">
                <a:solidFill>
                  <a:srgbClr val="2E7D32"/>
                </a:solidFill>
              </a:rPr>
              <a:t>ajki</a:t>
            </a:r>
            <a:r>
              <a:rPr sz="1300" b="1" dirty="0">
                <a:solidFill>
                  <a:srgbClr val="2E7D32"/>
                </a:solidFill>
              </a:rPr>
              <a:t> (SFM-RF, 50%)</a:t>
            </a:r>
          </a:p>
          <a:p>
            <a:r>
              <a:rPr sz="1300" b="1" dirty="0">
                <a:solidFill>
                  <a:srgbClr val="2E7D32"/>
                </a:solidFill>
              </a:rPr>
              <a:t>117 -&gt; 29 </a:t>
            </a:r>
            <a:r>
              <a:rPr sz="1300" b="1" dirty="0" err="1">
                <a:solidFill>
                  <a:srgbClr val="2E7D32"/>
                </a:solidFill>
              </a:rPr>
              <a:t>zna</a:t>
            </a:r>
            <a:r>
              <a:rPr lang="hr-HR" sz="1300" b="1" dirty="0">
                <a:solidFill>
                  <a:srgbClr val="2E7D32"/>
                </a:solidFill>
              </a:rPr>
              <a:t>č</a:t>
            </a:r>
            <a:r>
              <a:rPr sz="1300" b="1" dirty="0" err="1">
                <a:solidFill>
                  <a:srgbClr val="2E7D32"/>
                </a:solidFill>
              </a:rPr>
              <a:t>ajki</a:t>
            </a:r>
            <a:r>
              <a:rPr sz="1300" b="1" dirty="0">
                <a:solidFill>
                  <a:srgbClr val="2E7D32"/>
                </a:solidFill>
              </a:rPr>
              <a:t> (RFECV, 75%)</a:t>
            </a:r>
          </a:p>
          <a:p>
            <a:r>
              <a:rPr sz="1300" b="1" dirty="0">
                <a:solidFill>
                  <a:srgbClr val="C62828"/>
                </a:solidFill>
              </a:rPr>
              <a:t>117 -&gt;  5  </a:t>
            </a:r>
            <a:r>
              <a:rPr sz="1300" b="1" dirty="0" err="1">
                <a:solidFill>
                  <a:srgbClr val="C62828"/>
                </a:solidFill>
              </a:rPr>
              <a:t>zna</a:t>
            </a:r>
            <a:r>
              <a:rPr lang="hr-HR" sz="1300" b="1" dirty="0">
                <a:solidFill>
                  <a:srgbClr val="C62828"/>
                </a:solidFill>
              </a:rPr>
              <a:t>č</a:t>
            </a:r>
            <a:r>
              <a:rPr sz="1300" b="1" dirty="0" err="1">
                <a:solidFill>
                  <a:srgbClr val="C62828"/>
                </a:solidFill>
              </a:rPr>
              <a:t>ajki</a:t>
            </a:r>
            <a:r>
              <a:rPr sz="1300" b="1" dirty="0">
                <a:solidFill>
                  <a:srgbClr val="C62828"/>
                </a:solidFill>
              </a:rPr>
              <a:t> (Stat. </a:t>
            </a:r>
            <a:r>
              <a:rPr sz="1300" b="1" dirty="0" err="1">
                <a:solidFill>
                  <a:srgbClr val="C62828"/>
                </a:solidFill>
              </a:rPr>
              <a:t>testovi</a:t>
            </a:r>
            <a:r>
              <a:rPr sz="1300" b="1" dirty="0">
                <a:solidFill>
                  <a:srgbClr val="C62828"/>
                </a:solidFill>
              </a:rPr>
              <a:t>, 96%)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Skriptni jezici - Projektni zadatak   |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2D"/>
                </a:solidFill>
              </a:defRPr>
            </a:pPr>
            <a:r>
              <a:t>Rezultati: Baseline modeli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828800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rPr dirty="0" err="1"/>
              <a:t>Sve</a:t>
            </a:r>
            <a:r>
              <a:rPr dirty="0"/>
              <a:t> </a:t>
            </a:r>
            <a:r>
              <a:rPr dirty="0" err="1"/>
              <a:t>zna</a:t>
            </a:r>
            <a:r>
              <a:rPr lang="hr-HR" dirty="0"/>
              <a:t>č</a:t>
            </a:r>
            <a:r>
              <a:rPr dirty="0" err="1"/>
              <a:t>ajke</a:t>
            </a:r>
            <a:r>
              <a:rPr dirty="0"/>
              <a:t> (117), 10-fold CV x 5 </a:t>
            </a:r>
            <a:r>
              <a:rPr dirty="0" err="1"/>
              <a:t>ponavljanja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182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6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Klasifikator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AUC-ROC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MCC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0.9995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0.9995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0.9990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0.9990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K-Neighbors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0.9990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0.9990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0.9980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0.9981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Naive Bayes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0.9945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0.9539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0.9534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0.9282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0.9810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0.9081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 descr="roc_group_Baseline_All_features_20251222_0155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288036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0" y="3840480"/>
            <a:ext cx="41148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1B3A2D"/>
                </a:solidFill>
              </a:rPr>
              <a:t>Klju</a:t>
            </a:r>
            <a:r>
              <a:rPr lang="hr-HR" sz="1400" b="1" dirty="0">
                <a:solidFill>
                  <a:srgbClr val="1B3A2D"/>
                </a:solidFill>
              </a:rPr>
              <a:t>č</a:t>
            </a:r>
            <a:r>
              <a:rPr sz="1400" b="1" dirty="0" err="1">
                <a:solidFill>
                  <a:srgbClr val="1B3A2D"/>
                </a:solidFill>
              </a:rPr>
              <a:t>na</a:t>
            </a:r>
            <a:r>
              <a:rPr sz="1400" b="1" dirty="0">
                <a:solidFill>
                  <a:srgbClr val="1B3A2D"/>
                </a:solidFill>
              </a:rPr>
              <a:t> </a:t>
            </a:r>
            <a:r>
              <a:rPr sz="1400" b="1" dirty="0" err="1">
                <a:solidFill>
                  <a:srgbClr val="1B3A2D"/>
                </a:solidFill>
              </a:rPr>
              <a:t>zapa</a:t>
            </a:r>
            <a:r>
              <a:rPr lang="hr-HR" sz="1400" b="1" dirty="0">
                <a:solidFill>
                  <a:srgbClr val="1B3A2D"/>
                </a:solidFill>
              </a:rPr>
              <a:t>ž</a:t>
            </a:r>
            <a:r>
              <a:rPr sz="1400" b="1" dirty="0" err="1">
                <a:solidFill>
                  <a:srgbClr val="1B3A2D"/>
                </a:solidFill>
              </a:rPr>
              <a:t>anja</a:t>
            </a:r>
            <a:r>
              <a:rPr sz="1400" b="1" dirty="0">
                <a:solidFill>
                  <a:srgbClr val="1B3A2D"/>
                </a:solidFill>
              </a:rPr>
              <a:t>:</a:t>
            </a:r>
          </a:p>
          <a:p>
            <a:r>
              <a:rPr sz="1200" dirty="0">
                <a:solidFill>
                  <a:srgbClr val="1A1A1A"/>
                </a:solidFill>
              </a:rPr>
              <a:t>• RF: </a:t>
            </a:r>
            <a:r>
              <a:rPr sz="1200" dirty="0" err="1">
                <a:solidFill>
                  <a:srgbClr val="1A1A1A"/>
                </a:solidFill>
              </a:rPr>
              <a:t>savr</a:t>
            </a:r>
            <a:r>
              <a:rPr lang="hr-HR" sz="1200" dirty="0">
                <a:solidFill>
                  <a:srgbClr val="1A1A1A"/>
                </a:solidFill>
              </a:rPr>
              <a:t>š</a:t>
            </a:r>
            <a:r>
              <a:rPr sz="1200" dirty="0" err="1">
                <a:solidFill>
                  <a:srgbClr val="1A1A1A"/>
                </a:solidFill>
              </a:rPr>
              <a:t>en</a:t>
            </a:r>
            <a:r>
              <a:rPr sz="1200" dirty="0">
                <a:solidFill>
                  <a:srgbClr val="1A1A1A"/>
                </a:solidFill>
              </a:rPr>
              <a:t> </a:t>
            </a:r>
            <a:r>
              <a:rPr sz="1200" dirty="0" err="1">
                <a:solidFill>
                  <a:srgbClr val="1A1A1A"/>
                </a:solidFill>
              </a:rPr>
              <a:t>rezultat</a:t>
            </a:r>
            <a:r>
              <a:rPr sz="1200" dirty="0">
                <a:solidFill>
                  <a:srgbClr val="1A1A1A"/>
                </a:solidFill>
              </a:rPr>
              <a:t> (1.0 </a:t>
            </a:r>
            <a:r>
              <a:rPr sz="1200" dirty="0" err="1">
                <a:solidFill>
                  <a:srgbClr val="1A1A1A"/>
                </a:solidFill>
              </a:rPr>
              <a:t>na</a:t>
            </a:r>
            <a:r>
              <a:rPr sz="1200" dirty="0">
                <a:solidFill>
                  <a:srgbClr val="1A1A1A"/>
                </a:solidFill>
              </a:rPr>
              <a:t> </a:t>
            </a:r>
            <a:r>
              <a:rPr sz="1200" dirty="0" err="1">
                <a:solidFill>
                  <a:srgbClr val="1A1A1A"/>
                </a:solidFill>
              </a:rPr>
              <a:t>svim</a:t>
            </a:r>
            <a:r>
              <a:rPr sz="1200" dirty="0">
                <a:solidFill>
                  <a:srgbClr val="1A1A1A"/>
                </a:solidFill>
              </a:rPr>
              <a:t> </a:t>
            </a:r>
            <a:r>
              <a:rPr sz="1200" dirty="0" err="1">
                <a:solidFill>
                  <a:srgbClr val="1A1A1A"/>
                </a:solidFill>
              </a:rPr>
              <a:t>metrikama</a:t>
            </a:r>
            <a:r>
              <a:rPr sz="1200" dirty="0">
                <a:solidFill>
                  <a:srgbClr val="1A1A1A"/>
                </a:solidFill>
              </a:rPr>
              <a:t>)</a:t>
            </a:r>
          </a:p>
          <a:p>
            <a:r>
              <a:rPr sz="1200" dirty="0">
                <a:solidFill>
                  <a:srgbClr val="1A1A1A"/>
                </a:solidFill>
              </a:rPr>
              <a:t>• LR, SVM, KNN: </a:t>
            </a:r>
            <a:r>
              <a:rPr sz="1200" dirty="0" err="1">
                <a:solidFill>
                  <a:srgbClr val="1A1A1A"/>
                </a:solidFill>
              </a:rPr>
              <a:t>gotovo</a:t>
            </a:r>
            <a:r>
              <a:rPr sz="1200" dirty="0">
                <a:solidFill>
                  <a:srgbClr val="1A1A1A"/>
                </a:solidFill>
              </a:rPr>
              <a:t> </a:t>
            </a:r>
            <a:r>
              <a:rPr sz="1200" dirty="0" err="1">
                <a:solidFill>
                  <a:srgbClr val="1A1A1A"/>
                </a:solidFill>
              </a:rPr>
              <a:t>savr</a:t>
            </a:r>
            <a:r>
              <a:rPr lang="hr-HR" sz="1200" dirty="0">
                <a:solidFill>
                  <a:srgbClr val="1A1A1A"/>
                </a:solidFill>
              </a:rPr>
              <a:t>š</a:t>
            </a:r>
            <a:r>
              <a:rPr sz="1200" dirty="0" err="1">
                <a:solidFill>
                  <a:srgbClr val="1A1A1A"/>
                </a:solidFill>
              </a:rPr>
              <a:t>eni</a:t>
            </a:r>
            <a:r>
              <a:rPr sz="1200" dirty="0">
                <a:solidFill>
                  <a:srgbClr val="1A1A1A"/>
                </a:solidFill>
              </a:rPr>
              <a:t> (&gt;99.9%)</a:t>
            </a:r>
          </a:p>
          <a:p>
            <a:r>
              <a:rPr sz="1200" dirty="0">
                <a:solidFill>
                  <a:srgbClr val="1A1A1A"/>
                </a:solidFill>
              </a:rPr>
              <a:t>• Naive Bayes </a:t>
            </a:r>
            <a:r>
              <a:rPr sz="1200" dirty="0" err="1">
                <a:solidFill>
                  <a:srgbClr val="1A1A1A"/>
                </a:solidFill>
              </a:rPr>
              <a:t>zaostaje</a:t>
            </a:r>
            <a:r>
              <a:rPr sz="1200" dirty="0">
                <a:solidFill>
                  <a:srgbClr val="1A1A1A"/>
                </a:solidFill>
              </a:rPr>
              <a:t> (F1 = 0.954)</a:t>
            </a:r>
          </a:p>
          <a:p>
            <a:r>
              <a:rPr sz="1200" dirty="0">
                <a:solidFill>
                  <a:srgbClr val="1A1A1A"/>
                </a:solidFill>
              </a:rPr>
              <a:t>• Dataset je dobro </a:t>
            </a:r>
            <a:r>
              <a:rPr sz="1200" dirty="0" err="1">
                <a:solidFill>
                  <a:srgbClr val="1A1A1A"/>
                </a:solidFill>
              </a:rPr>
              <a:t>separabilan</a:t>
            </a:r>
            <a:endParaRPr sz="1200" dirty="0">
              <a:solidFill>
                <a:srgbClr val="1A1A1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Skriptni jezici - Projektni zadatak   |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7863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2D"/>
                </a:solidFill>
              </a:defRPr>
            </a:pPr>
            <a:r>
              <a:rPr dirty="0" err="1"/>
              <a:t>Rezultati</a:t>
            </a:r>
            <a:r>
              <a:rPr dirty="0"/>
              <a:t>: </a:t>
            </a:r>
            <a:r>
              <a:rPr dirty="0" err="1"/>
              <a:t>Statisti</a:t>
            </a:r>
            <a:r>
              <a:rPr lang="hr-HR" dirty="0"/>
              <a:t>č</a:t>
            </a:r>
            <a:r>
              <a:rPr dirty="0"/>
              <a:t>ka </a:t>
            </a:r>
            <a:r>
              <a:rPr dirty="0" err="1"/>
              <a:t>selekcija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828800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rPr dirty="0"/>
              <a:t>Top 5 </a:t>
            </a:r>
            <a:r>
              <a:rPr dirty="0" err="1"/>
              <a:t>zna</a:t>
            </a:r>
            <a:r>
              <a:rPr lang="hr-HR" dirty="0"/>
              <a:t>č</a:t>
            </a:r>
            <a:r>
              <a:rPr dirty="0" err="1"/>
              <a:t>ajki</a:t>
            </a:r>
            <a:r>
              <a:rPr dirty="0"/>
              <a:t>, in-CV </a:t>
            </a:r>
            <a:r>
              <a:rPr dirty="0" err="1"/>
              <a:t>selekcija</a:t>
            </a:r>
            <a:r>
              <a:rPr dirty="0"/>
              <a:t> -- </a:t>
            </a:r>
            <a:r>
              <a:rPr dirty="0" err="1"/>
              <a:t>najbolji</a:t>
            </a:r>
            <a:r>
              <a:rPr dirty="0"/>
              <a:t> </a:t>
            </a:r>
            <a:r>
              <a:rPr dirty="0" err="1"/>
              <a:t>rezultat</a:t>
            </a:r>
            <a:r>
              <a:rPr dirty="0"/>
              <a:t> po </a:t>
            </a:r>
            <a:r>
              <a:rPr dirty="0" err="1"/>
              <a:t>klasifikatoru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Klasifikator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Najbolji stat. test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AUC-ROC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Kruskal-Wallis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0.9831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0.9506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Log. Regression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Kruskal-Wallis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0.9784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0.9437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0.9490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Kruskal-Wallis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0.9658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0.9506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K-Neighbors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Kruskal-Wallis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0.9796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0.9435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0.9488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Kruskal-Wallis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0.9831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0.9506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Naive Bayes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Chi-square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0.9726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0.9286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0.9330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 descr="roc_group_StatSelect_Random_Forest_20251222_0155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14216"/>
            <a:ext cx="2667000" cy="2286000"/>
          </a:xfrm>
          <a:prstGeom prst="rect">
            <a:avLst/>
          </a:prstGeom>
        </p:spPr>
      </p:pic>
      <p:pic>
        <p:nvPicPr>
          <p:cNvPr id="7" name="Picture 6" descr="roc_group_StatSelect_Naive_Bayes_20251222_0155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4014216"/>
            <a:ext cx="26670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355701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 dirty="0" err="1">
                <a:solidFill>
                  <a:srgbClr val="666666"/>
                </a:solidFill>
              </a:rPr>
              <a:t>Redukcija</a:t>
            </a:r>
            <a:r>
              <a:rPr sz="1200" i="1" dirty="0">
                <a:solidFill>
                  <a:srgbClr val="666666"/>
                </a:solidFill>
              </a:rPr>
              <a:t> </a:t>
            </a:r>
            <a:r>
              <a:rPr sz="1200" i="1" dirty="0" err="1">
                <a:solidFill>
                  <a:srgbClr val="666666"/>
                </a:solidFill>
              </a:rPr>
              <a:t>na</a:t>
            </a:r>
            <a:r>
              <a:rPr sz="1200" i="1" dirty="0">
                <a:solidFill>
                  <a:srgbClr val="666666"/>
                </a:solidFill>
              </a:rPr>
              <a:t> 5 </a:t>
            </a:r>
            <a:r>
              <a:rPr sz="1200" i="1" dirty="0" err="1">
                <a:solidFill>
                  <a:srgbClr val="666666"/>
                </a:solidFill>
              </a:rPr>
              <a:t>znacajki</a:t>
            </a:r>
            <a:r>
              <a:rPr sz="1200" i="1" dirty="0">
                <a:solidFill>
                  <a:srgbClr val="666666"/>
                </a:solidFill>
              </a:rPr>
              <a:t>: AUC-ROC &gt; 0.95 | Kruskal-Wallis </a:t>
            </a:r>
            <a:r>
              <a:rPr sz="1200" i="1" dirty="0" err="1">
                <a:solidFill>
                  <a:srgbClr val="666666"/>
                </a:solidFill>
              </a:rPr>
              <a:t>konzistentno</a:t>
            </a:r>
            <a:r>
              <a:rPr sz="1200" i="1" dirty="0">
                <a:solidFill>
                  <a:srgbClr val="666666"/>
                </a:solidFill>
              </a:rPr>
              <a:t> </a:t>
            </a:r>
            <a:r>
              <a:rPr sz="1200" i="1" dirty="0" err="1">
                <a:solidFill>
                  <a:srgbClr val="666666"/>
                </a:solidFill>
              </a:rPr>
              <a:t>najbolji</a:t>
            </a:r>
            <a:r>
              <a:rPr sz="1200" i="1" dirty="0">
                <a:solidFill>
                  <a:srgbClr val="666666"/>
                </a:solidFill>
              </a:rPr>
              <a:t> | MW = Wilcoxon = KS (</a:t>
            </a:r>
            <a:r>
              <a:rPr sz="1200" i="1" dirty="0" err="1">
                <a:solidFill>
                  <a:srgbClr val="666666"/>
                </a:solidFill>
              </a:rPr>
              <a:t>identicne</a:t>
            </a:r>
            <a:r>
              <a:rPr sz="1200" i="1" dirty="0">
                <a:solidFill>
                  <a:srgbClr val="666666"/>
                </a:solidFill>
              </a:rPr>
              <a:t> </a:t>
            </a:r>
            <a:r>
              <a:rPr sz="1200" i="1" dirty="0" err="1">
                <a:solidFill>
                  <a:srgbClr val="666666"/>
                </a:solidFill>
              </a:rPr>
              <a:t>znacajke</a:t>
            </a:r>
            <a:r>
              <a:rPr sz="1200" i="1" dirty="0">
                <a:solidFill>
                  <a:srgbClr val="666666"/>
                </a:solidFill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Skriptni jezici - Projektni zadatak   |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667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2D"/>
                </a:solidFill>
              </a:defRPr>
            </a:pPr>
            <a:r>
              <a:t>Rezultati: Integrirani selektori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828800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894588"/>
            <a:ext cx="60624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rPr dirty="0" err="1"/>
              <a:t>SelectFromModel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RFECV -- </a:t>
            </a:r>
            <a:r>
              <a:rPr dirty="0" err="1"/>
              <a:t>redukcija</a:t>
            </a:r>
            <a:r>
              <a:rPr dirty="0"/>
              <a:t> </a:t>
            </a:r>
            <a:r>
              <a:rPr dirty="0" err="1"/>
              <a:t>dimenzionalnosti</a:t>
            </a:r>
            <a:r>
              <a:rPr dirty="0"/>
              <a:t> bez </a:t>
            </a:r>
            <a:r>
              <a:rPr dirty="0" err="1"/>
              <a:t>gubitka</a:t>
            </a:r>
            <a:r>
              <a:rPr dirty="0"/>
              <a:t> </a:t>
            </a:r>
            <a:r>
              <a:rPr dirty="0" err="1"/>
              <a:t>performansi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776899"/>
              </p:ext>
            </p:extLst>
          </p:nvPr>
        </p:nvGraphicFramePr>
        <p:xfrm>
          <a:off x="274320" y="1280160"/>
          <a:ext cx="5029200" cy="3944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Konfiguracija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AUC-ROC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# </a:t>
                      </a:r>
                      <a:r>
                        <a:rPr dirty="0" err="1"/>
                        <a:t>Zna</a:t>
                      </a:r>
                      <a:r>
                        <a:rPr lang="hr-HR" dirty="0"/>
                        <a:t>č</a:t>
                      </a:r>
                      <a:r>
                        <a:rPr dirty="0" err="1"/>
                        <a:t>ajki</a:t>
                      </a:r>
                      <a:endParaRPr dirty="0"/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SFM (L1-LR) + 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SFM (L1-LR) + SVM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0.9991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0.9991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SFM (L1-LR) + 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SFM (L1-LR) + NB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0.9945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0.9539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0.9534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SFM (RF) + 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SFM (RF) + LR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SFM (RF) + 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RFECV (L1-LR) + LR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0.9995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0.9995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RFECV (L1-LR) + 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0.9991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RFECV (L1-LR) + NB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0.9969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0.9814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0.9811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29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6" name="Picture 5" descr="roc_group_Integrated_RF_selector_20251222_0155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40768"/>
            <a:ext cx="2880360" cy="2468880"/>
          </a:xfrm>
          <a:prstGeom prst="rect">
            <a:avLst/>
          </a:prstGeom>
        </p:spPr>
      </p:pic>
      <p:pic>
        <p:nvPicPr>
          <p:cNvPr id="7" name="Picture 6" descr="roc_group_Integrated_RFECV_L1_LR_20251222_0155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792527"/>
            <a:ext cx="2880360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89320" y="3609648"/>
            <a:ext cx="124264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 dirty="0">
                <a:solidFill>
                  <a:srgbClr val="666666"/>
                </a:solidFill>
              </a:rPr>
              <a:t>SFM (RF) -- 59 </a:t>
            </a:r>
            <a:r>
              <a:rPr sz="900" i="1" dirty="0" err="1">
                <a:solidFill>
                  <a:srgbClr val="666666"/>
                </a:solidFill>
              </a:rPr>
              <a:t>zna</a:t>
            </a:r>
            <a:r>
              <a:rPr lang="hr-HR" sz="900" i="1" dirty="0">
                <a:solidFill>
                  <a:srgbClr val="666666"/>
                </a:solidFill>
              </a:rPr>
              <a:t>č</a:t>
            </a:r>
            <a:r>
              <a:rPr sz="900" i="1" dirty="0" err="1">
                <a:solidFill>
                  <a:srgbClr val="666666"/>
                </a:solidFill>
              </a:rPr>
              <a:t>ajki</a:t>
            </a:r>
            <a:endParaRPr sz="900" i="1" dirty="0">
              <a:solidFill>
                <a:srgbClr val="666666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89320" y="6261408"/>
            <a:ext cx="147187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 dirty="0">
                <a:solidFill>
                  <a:srgbClr val="666666"/>
                </a:solidFill>
              </a:rPr>
              <a:t>RFECV (L1-LR) -- 29 </a:t>
            </a:r>
            <a:r>
              <a:rPr sz="900" i="1" dirty="0" err="1">
                <a:solidFill>
                  <a:srgbClr val="666666"/>
                </a:solidFill>
              </a:rPr>
              <a:t>zna</a:t>
            </a:r>
            <a:r>
              <a:rPr lang="hr-HR" sz="900" i="1" dirty="0">
                <a:solidFill>
                  <a:srgbClr val="666666"/>
                </a:solidFill>
              </a:rPr>
              <a:t>č</a:t>
            </a:r>
            <a:r>
              <a:rPr sz="900" i="1" dirty="0" err="1">
                <a:solidFill>
                  <a:srgbClr val="666666"/>
                </a:solidFill>
              </a:rPr>
              <a:t>ajki</a:t>
            </a:r>
            <a:endParaRPr sz="900" i="1" dirty="0">
              <a:solidFill>
                <a:srgbClr val="666666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320" y="5385816"/>
            <a:ext cx="502920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1B3A2D"/>
                </a:solidFill>
              </a:rPr>
              <a:t>Klju</a:t>
            </a:r>
            <a:r>
              <a:rPr lang="hr-HR" sz="1400" b="1" dirty="0">
                <a:solidFill>
                  <a:srgbClr val="1B3A2D"/>
                </a:solidFill>
              </a:rPr>
              <a:t>č</a:t>
            </a:r>
            <a:r>
              <a:rPr sz="1400" b="1" dirty="0">
                <a:solidFill>
                  <a:srgbClr val="1B3A2D"/>
                </a:solidFill>
              </a:rPr>
              <a:t>no:</a:t>
            </a:r>
          </a:p>
          <a:p>
            <a:r>
              <a:rPr sz="1300" b="1" dirty="0">
                <a:solidFill>
                  <a:srgbClr val="1A1A1A"/>
                </a:solidFill>
              </a:rPr>
              <a:t>• SFM (RF): </a:t>
            </a:r>
            <a:r>
              <a:rPr sz="1300" b="1" dirty="0" err="1">
                <a:solidFill>
                  <a:srgbClr val="1A1A1A"/>
                </a:solidFill>
              </a:rPr>
              <a:t>savr</a:t>
            </a:r>
            <a:r>
              <a:rPr lang="hr-HR" sz="1300" b="1" dirty="0">
                <a:solidFill>
                  <a:srgbClr val="1A1A1A"/>
                </a:solidFill>
              </a:rPr>
              <a:t>š</a:t>
            </a:r>
            <a:r>
              <a:rPr sz="1300" b="1" dirty="0" err="1">
                <a:solidFill>
                  <a:srgbClr val="1A1A1A"/>
                </a:solidFill>
              </a:rPr>
              <a:t>en</a:t>
            </a:r>
            <a:r>
              <a:rPr sz="1300" b="1" dirty="0">
                <a:solidFill>
                  <a:srgbClr val="1A1A1A"/>
                </a:solidFill>
              </a:rPr>
              <a:t> </a:t>
            </a:r>
            <a:r>
              <a:rPr sz="1300" b="1" dirty="0" err="1">
                <a:solidFill>
                  <a:srgbClr val="1A1A1A"/>
                </a:solidFill>
              </a:rPr>
              <a:t>rezultat</a:t>
            </a:r>
            <a:r>
              <a:rPr sz="1300" b="1" dirty="0">
                <a:solidFill>
                  <a:srgbClr val="1A1A1A"/>
                </a:solidFill>
              </a:rPr>
              <a:t> </a:t>
            </a:r>
            <a:r>
              <a:rPr sz="1300" b="1" dirty="0" err="1">
                <a:solidFill>
                  <a:srgbClr val="1A1A1A"/>
                </a:solidFill>
              </a:rPr>
              <a:t>sa</a:t>
            </a:r>
            <a:r>
              <a:rPr sz="1300" b="1" dirty="0">
                <a:solidFill>
                  <a:srgbClr val="1A1A1A"/>
                </a:solidFill>
              </a:rPr>
              <a:t> </a:t>
            </a:r>
            <a:r>
              <a:rPr sz="1300" b="1" dirty="0" err="1">
                <a:solidFill>
                  <a:srgbClr val="1A1A1A"/>
                </a:solidFill>
              </a:rPr>
              <a:t>samo</a:t>
            </a:r>
            <a:r>
              <a:rPr sz="1300" b="1" dirty="0">
                <a:solidFill>
                  <a:srgbClr val="1A1A1A"/>
                </a:solidFill>
              </a:rPr>
              <a:t> 59 </a:t>
            </a:r>
            <a:r>
              <a:rPr sz="1300" b="1" dirty="0" err="1">
                <a:solidFill>
                  <a:srgbClr val="1A1A1A"/>
                </a:solidFill>
              </a:rPr>
              <a:t>zna</a:t>
            </a:r>
            <a:r>
              <a:rPr lang="hr-HR" sz="1300" b="1" dirty="0">
                <a:solidFill>
                  <a:srgbClr val="1A1A1A"/>
                </a:solidFill>
              </a:rPr>
              <a:t>č</a:t>
            </a:r>
            <a:r>
              <a:rPr sz="1300" b="1" dirty="0" err="1">
                <a:solidFill>
                  <a:srgbClr val="1A1A1A"/>
                </a:solidFill>
              </a:rPr>
              <a:t>ajki</a:t>
            </a:r>
            <a:r>
              <a:rPr sz="1300" b="1" dirty="0">
                <a:solidFill>
                  <a:srgbClr val="1A1A1A"/>
                </a:solidFill>
              </a:rPr>
              <a:t> (50% </a:t>
            </a:r>
            <a:r>
              <a:rPr sz="1300" b="1" dirty="0" err="1">
                <a:solidFill>
                  <a:srgbClr val="1A1A1A"/>
                </a:solidFill>
              </a:rPr>
              <a:t>redukcija</a:t>
            </a:r>
            <a:r>
              <a:rPr sz="1300" b="1" dirty="0">
                <a:solidFill>
                  <a:srgbClr val="1A1A1A"/>
                </a:solidFill>
              </a:rPr>
              <a:t>)</a:t>
            </a:r>
          </a:p>
          <a:p>
            <a:r>
              <a:rPr sz="1300" b="1" dirty="0">
                <a:solidFill>
                  <a:srgbClr val="1A1A1A"/>
                </a:solidFill>
              </a:rPr>
              <a:t>• RFECV: AUC-ROC = 1.0 </a:t>
            </a:r>
            <a:r>
              <a:rPr sz="1300" b="1" dirty="0" err="1">
                <a:solidFill>
                  <a:srgbClr val="1A1A1A"/>
                </a:solidFill>
              </a:rPr>
              <a:t>sa</a:t>
            </a:r>
            <a:r>
              <a:rPr sz="1300" b="1" dirty="0">
                <a:solidFill>
                  <a:srgbClr val="1A1A1A"/>
                </a:solidFill>
              </a:rPr>
              <a:t> </a:t>
            </a:r>
            <a:r>
              <a:rPr sz="1300" b="1" dirty="0" err="1">
                <a:solidFill>
                  <a:srgbClr val="1A1A1A"/>
                </a:solidFill>
              </a:rPr>
              <a:t>samo</a:t>
            </a:r>
            <a:r>
              <a:rPr sz="1300" b="1" dirty="0">
                <a:solidFill>
                  <a:srgbClr val="1A1A1A"/>
                </a:solidFill>
              </a:rPr>
              <a:t> 29 </a:t>
            </a:r>
            <a:r>
              <a:rPr sz="1300" b="1" dirty="0" err="1">
                <a:solidFill>
                  <a:srgbClr val="1A1A1A"/>
                </a:solidFill>
              </a:rPr>
              <a:t>zna</a:t>
            </a:r>
            <a:r>
              <a:rPr lang="hr-HR" sz="1300" b="1" dirty="0">
                <a:solidFill>
                  <a:srgbClr val="1A1A1A"/>
                </a:solidFill>
              </a:rPr>
              <a:t>č</a:t>
            </a:r>
            <a:r>
              <a:rPr sz="1300" b="1" dirty="0" err="1">
                <a:solidFill>
                  <a:srgbClr val="1A1A1A"/>
                </a:solidFill>
              </a:rPr>
              <a:t>ajki</a:t>
            </a:r>
            <a:r>
              <a:rPr sz="1300" b="1" dirty="0">
                <a:solidFill>
                  <a:srgbClr val="1A1A1A"/>
                </a:solidFill>
              </a:rPr>
              <a:t> (75% </a:t>
            </a:r>
            <a:r>
              <a:rPr sz="1300" b="1" dirty="0" err="1">
                <a:solidFill>
                  <a:srgbClr val="1A1A1A"/>
                </a:solidFill>
              </a:rPr>
              <a:t>redukcija</a:t>
            </a:r>
            <a:r>
              <a:rPr sz="1300" b="1" dirty="0">
                <a:solidFill>
                  <a:srgbClr val="1A1A1A"/>
                </a:solidFill>
              </a:rPr>
              <a:t>)</a:t>
            </a:r>
          </a:p>
          <a:p>
            <a:r>
              <a:rPr sz="1300" dirty="0">
                <a:solidFill>
                  <a:srgbClr val="1A1A1A"/>
                </a:solidFill>
              </a:rPr>
              <a:t>• </a:t>
            </a:r>
            <a:r>
              <a:rPr lang="hr-HR" sz="1300" dirty="0">
                <a:solidFill>
                  <a:srgbClr val="1A1A1A"/>
                </a:solidFill>
              </a:rPr>
              <a:t>č</a:t>
            </a:r>
            <a:r>
              <a:rPr sz="1300" dirty="0" err="1">
                <a:solidFill>
                  <a:srgbClr val="1A1A1A"/>
                </a:solidFill>
              </a:rPr>
              <a:t>ak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i</a:t>
            </a:r>
            <a:r>
              <a:rPr sz="1300" dirty="0">
                <a:solidFill>
                  <a:srgbClr val="1A1A1A"/>
                </a:solidFill>
              </a:rPr>
              <a:t> NB: </a:t>
            </a:r>
            <a:r>
              <a:rPr sz="1300" dirty="0" err="1">
                <a:solidFill>
                  <a:srgbClr val="1A1A1A"/>
                </a:solidFill>
              </a:rPr>
              <a:t>pobolj</a:t>
            </a:r>
            <a:r>
              <a:rPr lang="hr-HR" sz="1300" dirty="0">
                <a:solidFill>
                  <a:srgbClr val="1A1A1A"/>
                </a:solidFill>
              </a:rPr>
              <a:t>š</a:t>
            </a:r>
            <a:r>
              <a:rPr sz="1300" dirty="0" err="1">
                <a:solidFill>
                  <a:srgbClr val="1A1A1A"/>
                </a:solidFill>
              </a:rPr>
              <a:t>anje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uz</a:t>
            </a:r>
            <a:r>
              <a:rPr sz="1300" dirty="0">
                <a:solidFill>
                  <a:srgbClr val="1A1A1A"/>
                </a:solidFill>
              </a:rPr>
              <a:t> RFECV (F1: 0.954 -&gt; 0.981)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352848"/>
            <a:ext cx="7543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rPr dirty="0" err="1"/>
              <a:t>Skriptni</a:t>
            </a:r>
            <a:r>
              <a:rPr dirty="0"/>
              <a:t> </a:t>
            </a:r>
            <a:r>
              <a:rPr dirty="0" err="1"/>
              <a:t>jezici</a:t>
            </a:r>
            <a:r>
              <a:rPr dirty="0"/>
              <a:t> - </a:t>
            </a:r>
            <a:r>
              <a:rPr dirty="0" err="1"/>
              <a:t>Projektni</a:t>
            </a:r>
            <a:r>
              <a:rPr dirty="0"/>
              <a:t> </a:t>
            </a:r>
            <a:r>
              <a:rPr dirty="0" err="1"/>
              <a:t>zadatak</a:t>
            </a:r>
            <a:r>
              <a:rPr dirty="0"/>
              <a:t>   |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7863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2D"/>
                </a:solidFill>
              </a:defRPr>
            </a:pPr>
            <a:r>
              <a:rPr dirty="0" err="1"/>
              <a:t>Odabrane</a:t>
            </a:r>
            <a:r>
              <a:rPr dirty="0"/>
              <a:t> </a:t>
            </a:r>
            <a:r>
              <a:rPr dirty="0" err="1"/>
              <a:t>zna</a:t>
            </a:r>
            <a:r>
              <a:rPr lang="hr-HR" dirty="0"/>
              <a:t>č</a:t>
            </a:r>
            <a:r>
              <a:rPr dirty="0" err="1"/>
              <a:t>ajke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benefiti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828800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322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rPr dirty="0"/>
              <a:t>Feature selection -- </a:t>
            </a:r>
            <a:r>
              <a:rPr dirty="0" err="1"/>
              <a:t>rezultati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prednosti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96645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E7D32"/>
                </a:solidFill>
              </a:rPr>
              <a:t>Top 5 </a:t>
            </a:r>
            <a:r>
              <a:rPr sz="1300" b="1" dirty="0" err="1">
                <a:solidFill>
                  <a:srgbClr val="2E7D32"/>
                </a:solidFill>
              </a:rPr>
              <a:t>zna</a:t>
            </a:r>
            <a:r>
              <a:rPr lang="hr-HR" sz="1300" b="1" dirty="0">
                <a:solidFill>
                  <a:srgbClr val="2E7D32"/>
                </a:solidFill>
              </a:rPr>
              <a:t>č</a:t>
            </a:r>
            <a:r>
              <a:rPr sz="1300" b="1" dirty="0" err="1">
                <a:solidFill>
                  <a:srgbClr val="2E7D32"/>
                </a:solidFill>
              </a:rPr>
              <a:t>ajki</a:t>
            </a:r>
            <a:r>
              <a:rPr sz="1300" b="1" dirty="0">
                <a:solidFill>
                  <a:srgbClr val="2E7D32"/>
                </a:solidFill>
              </a:rPr>
              <a:t> po </a:t>
            </a:r>
            <a:r>
              <a:rPr sz="1300" b="1" dirty="0" err="1">
                <a:solidFill>
                  <a:srgbClr val="2E7D32"/>
                </a:solidFill>
              </a:rPr>
              <a:t>statisti</a:t>
            </a:r>
            <a:r>
              <a:rPr lang="hr-HR" sz="1300" b="1" dirty="0">
                <a:solidFill>
                  <a:srgbClr val="2E7D32"/>
                </a:solidFill>
              </a:rPr>
              <a:t>č</a:t>
            </a:r>
            <a:r>
              <a:rPr sz="1300" b="1" dirty="0" err="1">
                <a:solidFill>
                  <a:srgbClr val="2E7D32"/>
                </a:solidFill>
              </a:rPr>
              <a:t>kim</a:t>
            </a:r>
            <a:r>
              <a:rPr sz="1300" b="1" dirty="0">
                <a:solidFill>
                  <a:srgbClr val="2E7D32"/>
                </a:solidFill>
              </a:rPr>
              <a:t> </a:t>
            </a:r>
            <a:r>
              <a:rPr sz="1300" b="1" dirty="0" err="1">
                <a:solidFill>
                  <a:srgbClr val="2E7D32"/>
                </a:solidFill>
              </a:rPr>
              <a:t>testovima</a:t>
            </a:r>
            <a:r>
              <a:rPr sz="1300" b="1" dirty="0">
                <a:solidFill>
                  <a:srgbClr val="2E7D32"/>
                </a:solidFill>
              </a:rPr>
              <a:t>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414276"/>
              </p:ext>
            </p:extLst>
          </p:nvPr>
        </p:nvGraphicFramePr>
        <p:xfrm>
          <a:off x="457200" y="1554480"/>
          <a:ext cx="4325111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Rang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MW / Wilcoxon / KS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Kruskal-Wallis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Chi-square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odor_n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odor_n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odor_n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odor_f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odor_f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stalk-surf.-a._k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ring-type_p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stalk-surf.-a._k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stalk-surf.-b._k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stalk-surf.-a._k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stalk-surf.-b._k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ring-type_p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stalk-surf.-b._k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ring-type_p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gill-</a:t>
                      </a:r>
                      <a:r>
                        <a:rPr dirty="0" err="1"/>
                        <a:t>size_b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94960" y="11887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7D32"/>
                </a:solidFill>
              </a:rPr>
              <a:t>RF Gini importanca: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167497"/>
              </p:ext>
            </p:extLst>
          </p:nvPr>
        </p:nvGraphicFramePr>
        <p:xfrm>
          <a:off x="5394960" y="1554480"/>
          <a:ext cx="2697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Rang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Znacajka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Importanca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odor_n (none)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0.1393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odor_f (foul)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0.0773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gill-size_n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0.0652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gill-size_b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0.0535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stalk-surf.-b._k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0.0519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3474720"/>
            <a:ext cx="8229600" cy="54864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7863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C62828"/>
                </a:solidFill>
              </a:rPr>
              <a:t>MIRIS (odor) = </a:t>
            </a:r>
            <a:r>
              <a:rPr sz="1600" b="1" dirty="0" err="1">
                <a:solidFill>
                  <a:srgbClr val="C62828"/>
                </a:solidFill>
              </a:rPr>
              <a:t>najva</a:t>
            </a:r>
            <a:r>
              <a:rPr lang="hr-HR" sz="1600" b="1" dirty="0">
                <a:solidFill>
                  <a:srgbClr val="C62828"/>
                </a:solidFill>
              </a:rPr>
              <a:t>ž</a:t>
            </a:r>
            <a:r>
              <a:rPr sz="1600" b="1" dirty="0" err="1">
                <a:solidFill>
                  <a:srgbClr val="C62828"/>
                </a:solidFill>
              </a:rPr>
              <a:t>niji</a:t>
            </a:r>
            <a:r>
              <a:rPr sz="1600" b="1" dirty="0">
                <a:solidFill>
                  <a:srgbClr val="C62828"/>
                </a:solidFill>
              </a:rPr>
              <a:t> </a:t>
            </a:r>
            <a:r>
              <a:rPr sz="1600" b="1" dirty="0" err="1">
                <a:solidFill>
                  <a:srgbClr val="C62828"/>
                </a:solidFill>
              </a:rPr>
              <a:t>prediktor</a:t>
            </a:r>
            <a:r>
              <a:rPr sz="1600" b="1" dirty="0">
                <a:solidFill>
                  <a:srgbClr val="C62828"/>
                </a:solidFill>
              </a:rPr>
              <a:t> </a:t>
            </a:r>
            <a:r>
              <a:rPr sz="1600" b="1" dirty="0" err="1">
                <a:solidFill>
                  <a:srgbClr val="C62828"/>
                </a:solidFill>
              </a:rPr>
              <a:t>jestivosti</a:t>
            </a:r>
            <a:r>
              <a:rPr sz="1600" b="1" dirty="0">
                <a:solidFill>
                  <a:srgbClr val="C62828"/>
                </a:solidFill>
              </a:rPr>
              <a:t> </a:t>
            </a:r>
            <a:r>
              <a:rPr sz="1600" b="1" dirty="0" err="1">
                <a:solidFill>
                  <a:srgbClr val="C62828"/>
                </a:solidFill>
              </a:rPr>
              <a:t>prema</a:t>
            </a:r>
            <a:r>
              <a:rPr sz="1600" b="1" dirty="0">
                <a:solidFill>
                  <a:srgbClr val="C62828"/>
                </a:solidFill>
              </a:rPr>
              <a:t> SVIM </a:t>
            </a:r>
            <a:r>
              <a:rPr sz="1600" b="1" dirty="0" err="1">
                <a:solidFill>
                  <a:srgbClr val="C62828"/>
                </a:solidFill>
              </a:rPr>
              <a:t>metodama</a:t>
            </a:r>
            <a:r>
              <a:rPr sz="1600" b="1" dirty="0">
                <a:solidFill>
                  <a:srgbClr val="C62828"/>
                </a:solidFill>
              </a:rPr>
              <a:t> </a:t>
            </a:r>
            <a:r>
              <a:rPr sz="1600" b="1" dirty="0" err="1">
                <a:solidFill>
                  <a:srgbClr val="C62828"/>
                </a:solidFill>
              </a:rPr>
              <a:t>selekcije</a:t>
            </a:r>
            <a:r>
              <a:rPr sz="1600" b="1" dirty="0">
                <a:solidFill>
                  <a:srgbClr val="C62828"/>
                </a:solidFill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2D"/>
                </a:solidFill>
              </a:rPr>
              <a:t>Benefiti feature selectiona: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8229600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 dirty="0">
                <a:solidFill>
                  <a:srgbClr val="1A1A1A"/>
                </a:solidFill>
              </a:rPr>
              <a:t>• </a:t>
            </a:r>
            <a:r>
              <a:rPr sz="1300" b="1" dirty="0" err="1">
                <a:solidFill>
                  <a:srgbClr val="1A1A1A"/>
                </a:solidFill>
              </a:rPr>
              <a:t>Redukcija</a:t>
            </a:r>
            <a:r>
              <a:rPr sz="1300" b="1" dirty="0">
                <a:solidFill>
                  <a:srgbClr val="1A1A1A"/>
                </a:solidFill>
              </a:rPr>
              <a:t> </a:t>
            </a:r>
            <a:r>
              <a:rPr sz="1300" b="1" dirty="0" err="1">
                <a:solidFill>
                  <a:srgbClr val="1A1A1A"/>
                </a:solidFill>
              </a:rPr>
              <a:t>dimenzionalnosti</a:t>
            </a:r>
            <a:r>
              <a:rPr sz="1300" b="1" dirty="0">
                <a:solidFill>
                  <a:srgbClr val="1A1A1A"/>
                </a:solidFill>
              </a:rPr>
              <a:t>: </a:t>
            </a:r>
            <a:r>
              <a:rPr sz="1300" dirty="0">
                <a:solidFill>
                  <a:srgbClr val="1A1A1A"/>
                </a:solidFill>
              </a:rPr>
              <a:t>117 -&gt; 29 </a:t>
            </a:r>
            <a:r>
              <a:rPr sz="1300" dirty="0" err="1">
                <a:solidFill>
                  <a:srgbClr val="1A1A1A"/>
                </a:solidFill>
              </a:rPr>
              <a:t>zna</a:t>
            </a:r>
            <a:r>
              <a:rPr lang="hr-HR" sz="1300" dirty="0">
                <a:solidFill>
                  <a:srgbClr val="1A1A1A"/>
                </a:solidFill>
              </a:rPr>
              <a:t>č</a:t>
            </a:r>
            <a:r>
              <a:rPr sz="1300" dirty="0" err="1">
                <a:solidFill>
                  <a:srgbClr val="1A1A1A"/>
                </a:solidFill>
              </a:rPr>
              <a:t>ajki</a:t>
            </a:r>
            <a:r>
              <a:rPr sz="1300" dirty="0">
                <a:solidFill>
                  <a:srgbClr val="1A1A1A"/>
                </a:solidFill>
              </a:rPr>
              <a:t> (75%) bez </a:t>
            </a:r>
            <a:r>
              <a:rPr sz="1300" dirty="0" err="1">
                <a:solidFill>
                  <a:srgbClr val="1A1A1A"/>
                </a:solidFill>
              </a:rPr>
              <a:t>gubitka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performansi</a:t>
            </a:r>
            <a:r>
              <a:rPr sz="1300" dirty="0">
                <a:solidFill>
                  <a:srgbClr val="1A1A1A"/>
                </a:solidFill>
              </a:rPr>
              <a:t> (AUC-ROC = 1.0)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 dirty="0">
                <a:solidFill>
                  <a:srgbClr val="1A1A1A"/>
                </a:solidFill>
              </a:rPr>
              <a:t>• </a:t>
            </a:r>
            <a:r>
              <a:rPr sz="1300" b="1" dirty="0" err="1">
                <a:solidFill>
                  <a:srgbClr val="1A1A1A"/>
                </a:solidFill>
              </a:rPr>
              <a:t>Interpretabilnost</a:t>
            </a:r>
            <a:r>
              <a:rPr sz="1300" b="1" dirty="0">
                <a:solidFill>
                  <a:srgbClr val="1A1A1A"/>
                </a:solidFill>
              </a:rPr>
              <a:t>: </a:t>
            </a:r>
            <a:r>
              <a:rPr sz="1300" dirty="0" err="1">
                <a:solidFill>
                  <a:srgbClr val="1A1A1A"/>
                </a:solidFill>
              </a:rPr>
              <a:t>Jasno</a:t>
            </a:r>
            <a:r>
              <a:rPr sz="1300" dirty="0">
                <a:solidFill>
                  <a:srgbClr val="1A1A1A"/>
                </a:solidFill>
              </a:rPr>
              <a:t> se </a:t>
            </a:r>
            <a:r>
              <a:rPr sz="1300" dirty="0" err="1">
                <a:solidFill>
                  <a:srgbClr val="1A1A1A"/>
                </a:solidFill>
              </a:rPr>
              <a:t>vidi</a:t>
            </a:r>
            <a:r>
              <a:rPr sz="1300" dirty="0">
                <a:solidFill>
                  <a:srgbClr val="1A1A1A"/>
                </a:solidFill>
              </a:rPr>
              <a:t> da </a:t>
            </a:r>
            <a:r>
              <a:rPr sz="1300" dirty="0" err="1">
                <a:solidFill>
                  <a:srgbClr val="1A1A1A"/>
                </a:solidFill>
              </a:rPr>
              <a:t>su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miris</a:t>
            </a:r>
            <a:r>
              <a:rPr sz="1300" dirty="0">
                <a:solidFill>
                  <a:srgbClr val="1A1A1A"/>
                </a:solidFill>
              </a:rPr>
              <a:t>, </a:t>
            </a:r>
            <a:r>
              <a:rPr sz="1300" dirty="0" err="1">
                <a:solidFill>
                  <a:srgbClr val="1A1A1A"/>
                </a:solidFill>
              </a:rPr>
              <a:t>povr</a:t>
            </a:r>
            <a:r>
              <a:rPr lang="hr-HR" sz="1300" dirty="0">
                <a:solidFill>
                  <a:srgbClr val="1A1A1A"/>
                </a:solidFill>
              </a:rPr>
              <a:t>š</a:t>
            </a:r>
            <a:r>
              <a:rPr sz="1300" dirty="0" err="1">
                <a:solidFill>
                  <a:srgbClr val="1A1A1A"/>
                </a:solidFill>
              </a:rPr>
              <a:t>ina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stabljike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i</a:t>
            </a:r>
            <a:r>
              <a:rPr sz="1300" dirty="0">
                <a:solidFill>
                  <a:srgbClr val="1A1A1A"/>
                </a:solidFill>
              </a:rPr>
              <a:t> tip </a:t>
            </a:r>
            <a:r>
              <a:rPr sz="1300" dirty="0" err="1">
                <a:solidFill>
                  <a:srgbClr val="1A1A1A"/>
                </a:solidFill>
              </a:rPr>
              <a:t>prstena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klju</a:t>
            </a:r>
            <a:r>
              <a:rPr lang="hr-HR" sz="1300" dirty="0">
                <a:solidFill>
                  <a:srgbClr val="1A1A1A"/>
                </a:solidFill>
              </a:rPr>
              <a:t>č</a:t>
            </a:r>
            <a:r>
              <a:rPr sz="1300" dirty="0" err="1">
                <a:solidFill>
                  <a:srgbClr val="1A1A1A"/>
                </a:solidFill>
              </a:rPr>
              <a:t>ni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prediktori</a:t>
            </a:r>
            <a:endParaRPr sz="1300" dirty="0">
              <a:solidFill>
                <a:srgbClr val="1A1A1A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 dirty="0">
                <a:solidFill>
                  <a:srgbClr val="1A1A1A"/>
                </a:solidFill>
              </a:rPr>
              <a:t>• Manji </a:t>
            </a:r>
            <a:r>
              <a:rPr sz="1300" b="1" dirty="0" err="1">
                <a:solidFill>
                  <a:srgbClr val="1A1A1A"/>
                </a:solidFill>
              </a:rPr>
              <a:t>rizik</a:t>
            </a:r>
            <a:r>
              <a:rPr sz="1300" b="1" dirty="0">
                <a:solidFill>
                  <a:srgbClr val="1A1A1A"/>
                </a:solidFill>
              </a:rPr>
              <a:t> od </a:t>
            </a:r>
            <a:r>
              <a:rPr sz="1300" b="1" dirty="0" err="1">
                <a:solidFill>
                  <a:srgbClr val="1A1A1A"/>
                </a:solidFill>
              </a:rPr>
              <a:t>overfittinga</a:t>
            </a:r>
            <a:r>
              <a:rPr sz="1300" b="1" dirty="0">
                <a:solidFill>
                  <a:srgbClr val="1A1A1A"/>
                </a:solidFill>
              </a:rPr>
              <a:t>: </a:t>
            </a:r>
            <a:r>
              <a:rPr sz="1300" dirty="0">
                <a:solidFill>
                  <a:srgbClr val="1A1A1A"/>
                </a:solidFill>
              </a:rPr>
              <a:t>Manje </a:t>
            </a:r>
            <a:r>
              <a:rPr sz="1300" dirty="0" err="1">
                <a:solidFill>
                  <a:srgbClr val="1A1A1A"/>
                </a:solidFill>
              </a:rPr>
              <a:t>zna</a:t>
            </a:r>
            <a:r>
              <a:rPr lang="hr-HR" sz="1300" dirty="0">
                <a:solidFill>
                  <a:srgbClr val="1A1A1A"/>
                </a:solidFill>
              </a:rPr>
              <a:t>č</a:t>
            </a:r>
            <a:r>
              <a:rPr sz="1300" dirty="0" err="1">
                <a:solidFill>
                  <a:srgbClr val="1A1A1A"/>
                </a:solidFill>
              </a:rPr>
              <a:t>ajki</a:t>
            </a:r>
            <a:r>
              <a:rPr sz="1300" dirty="0">
                <a:solidFill>
                  <a:srgbClr val="1A1A1A"/>
                </a:solidFill>
              </a:rPr>
              <a:t> = </a:t>
            </a:r>
            <a:r>
              <a:rPr sz="1300" dirty="0" err="1">
                <a:solidFill>
                  <a:srgbClr val="1A1A1A"/>
                </a:solidFill>
              </a:rPr>
              <a:t>jednostavniji</a:t>
            </a:r>
            <a:r>
              <a:rPr sz="1300" dirty="0">
                <a:solidFill>
                  <a:srgbClr val="1A1A1A"/>
                </a:solidFill>
              </a:rPr>
              <a:t> model, </a:t>
            </a:r>
            <a:r>
              <a:rPr sz="1300" dirty="0" err="1">
                <a:solidFill>
                  <a:srgbClr val="1A1A1A"/>
                </a:solidFill>
              </a:rPr>
              <a:t>bolja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generalizacija</a:t>
            </a:r>
            <a:endParaRPr sz="1300" dirty="0">
              <a:solidFill>
                <a:srgbClr val="1A1A1A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 dirty="0">
                <a:solidFill>
                  <a:srgbClr val="1A1A1A"/>
                </a:solidFill>
              </a:rPr>
              <a:t>• </a:t>
            </a:r>
            <a:r>
              <a:rPr sz="1300" b="1" dirty="0" err="1">
                <a:solidFill>
                  <a:srgbClr val="1A1A1A"/>
                </a:solidFill>
              </a:rPr>
              <a:t>Brze</a:t>
            </a:r>
            <a:r>
              <a:rPr sz="1300" b="1" dirty="0">
                <a:solidFill>
                  <a:srgbClr val="1A1A1A"/>
                </a:solidFill>
              </a:rPr>
              <a:t> </a:t>
            </a:r>
            <a:r>
              <a:rPr sz="1300" b="1" dirty="0" err="1">
                <a:solidFill>
                  <a:srgbClr val="1A1A1A"/>
                </a:solidFill>
              </a:rPr>
              <a:t>treniranje</a:t>
            </a:r>
            <a:r>
              <a:rPr sz="1300" b="1" dirty="0">
                <a:solidFill>
                  <a:srgbClr val="1A1A1A"/>
                </a:solidFill>
              </a:rPr>
              <a:t> </a:t>
            </a:r>
            <a:r>
              <a:rPr sz="1300" b="1" dirty="0" err="1">
                <a:solidFill>
                  <a:srgbClr val="1A1A1A"/>
                </a:solidFill>
              </a:rPr>
              <a:t>i</a:t>
            </a:r>
            <a:r>
              <a:rPr sz="1300" b="1" dirty="0">
                <a:solidFill>
                  <a:srgbClr val="1A1A1A"/>
                </a:solidFill>
              </a:rPr>
              <a:t> </a:t>
            </a:r>
            <a:r>
              <a:rPr sz="1300" b="1" dirty="0" err="1">
                <a:solidFill>
                  <a:srgbClr val="1A1A1A"/>
                </a:solidFill>
              </a:rPr>
              <a:t>predikcija</a:t>
            </a:r>
            <a:r>
              <a:rPr sz="1300" b="1" dirty="0">
                <a:solidFill>
                  <a:srgbClr val="1A1A1A"/>
                </a:solidFill>
              </a:rPr>
              <a:t>: </a:t>
            </a:r>
            <a:r>
              <a:rPr sz="1300" dirty="0" err="1">
                <a:solidFill>
                  <a:srgbClr val="1A1A1A"/>
                </a:solidFill>
              </a:rPr>
              <a:t>Znatna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redukcija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ra</a:t>
            </a:r>
            <a:r>
              <a:rPr lang="hr-HR" sz="1300" dirty="0">
                <a:solidFill>
                  <a:srgbClr val="1A1A1A"/>
                </a:solidFill>
              </a:rPr>
              <a:t>č</a:t>
            </a:r>
            <a:r>
              <a:rPr sz="1300" dirty="0" err="1">
                <a:solidFill>
                  <a:srgbClr val="1A1A1A"/>
                </a:solidFill>
              </a:rPr>
              <a:t>unalne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kompleksnosti</a:t>
            </a:r>
            <a:endParaRPr sz="1300" dirty="0">
              <a:solidFill>
                <a:srgbClr val="1A1A1A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 dirty="0">
                <a:solidFill>
                  <a:srgbClr val="1A1A1A"/>
                </a:solidFill>
              </a:rPr>
              <a:t>• </a:t>
            </a:r>
            <a:r>
              <a:rPr sz="1300" b="1" dirty="0" err="1">
                <a:solidFill>
                  <a:srgbClr val="1A1A1A"/>
                </a:solidFill>
              </a:rPr>
              <a:t>Prakti</a:t>
            </a:r>
            <a:r>
              <a:rPr lang="hr-HR" sz="1300" b="1" dirty="0">
                <a:solidFill>
                  <a:srgbClr val="1A1A1A"/>
                </a:solidFill>
              </a:rPr>
              <a:t>č</a:t>
            </a:r>
            <a:r>
              <a:rPr sz="1300" b="1" dirty="0" err="1">
                <a:solidFill>
                  <a:srgbClr val="1A1A1A"/>
                </a:solidFill>
              </a:rPr>
              <a:t>na</a:t>
            </a:r>
            <a:r>
              <a:rPr sz="1300" b="1" dirty="0">
                <a:solidFill>
                  <a:srgbClr val="1A1A1A"/>
                </a:solidFill>
              </a:rPr>
              <a:t> </a:t>
            </a:r>
            <a:r>
              <a:rPr sz="1300" b="1" dirty="0" err="1">
                <a:solidFill>
                  <a:srgbClr val="1A1A1A"/>
                </a:solidFill>
              </a:rPr>
              <a:t>primjenjivost</a:t>
            </a:r>
            <a:r>
              <a:rPr sz="1300" b="1" dirty="0">
                <a:solidFill>
                  <a:srgbClr val="1A1A1A"/>
                </a:solidFill>
              </a:rPr>
              <a:t>: </a:t>
            </a:r>
            <a:r>
              <a:rPr sz="1300" dirty="0">
                <a:solidFill>
                  <a:srgbClr val="1A1A1A"/>
                </a:solidFill>
              </a:rPr>
              <a:t>Model s 5 </a:t>
            </a:r>
            <a:r>
              <a:rPr sz="1300" dirty="0" err="1">
                <a:solidFill>
                  <a:srgbClr val="1A1A1A"/>
                </a:solidFill>
              </a:rPr>
              <a:t>zna</a:t>
            </a:r>
            <a:r>
              <a:rPr lang="hr-HR" sz="1300" dirty="0">
                <a:solidFill>
                  <a:srgbClr val="1A1A1A"/>
                </a:solidFill>
              </a:rPr>
              <a:t>č</a:t>
            </a:r>
            <a:r>
              <a:rPr sz="1300" dirty="0" err="1">
                <a:solidFill>
                  <a:srgbClr val="1A1A1A"/>
                </a:solidFill>
              </a:rPr>
              <a:t>ajki</a:t>
            </a:r>
            <a:r>
              <a:rPr sz="1300" dirty="0">
                <a:solidFill>
                  <a:srgbClr val="1A1A1A"/>
                </a:solidFill>
              </a:rPr>
              <a:t> (AUC &gt; 0.97) -- </a:t>
            </a:r>
            <a:r>
              <a:rPr sz="1300" dirty="0" err="1">
                <a:solidFill>
                  <a:srgbClr val="1A1A1A"/>
                </a:solidFill>
              </a:rPr>
              <a:t>dovoljno</a:t>
            </a:r>
            <a:r>
              <a:rPr sz="1300" dirty="0">
                <a:solidFill>
                  <a:srgbClr val="1A1A1A"/>
                </a:solidFill>
              </a:rPr>
              <a:t> za </a:t>
            </a:r>
            <a:r>
              <a:rPr sz="1300" dirty="0" err="1">
                <a:solidFill>
                  <a:srgbClr val="1A1A1A"/>
                </a:solidFill>
              </a:rPr>
              <a:t>mobilne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aplikacije</a:t>
            </a:r>
            <a:endParaRPr sz="1300" dirty="0">
              <a:solidFill>
                <a:srgbClr val="1A1A1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Skriptni jezici - Projektni zadatak   |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7863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2D"/>
                </a:solidFill>
              </a:defRPr>
            </a:pPr>
            <a:r>
              <a:rPr dirty="0" err="1"/>
              <a:t>Zaklju</a:t>
            </a:r>
            <a:r>
              <a:rPr lang="hr-HR" dirty="0"/>
              <a:t>č</a:t>
            </a:r>
            <a:r>
              <a:rPr dirty="0" err="1"/>
              <a:t>ak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828800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dirty="0">
                <a:solidFill>
                  <a:srgbClr val="1A1A1A"/>
                </a:solidFill>
              </a:rPr>
              <a:t>• Random Forest je </a:t>
            </a:r>
            <a:r>
              <a:rPr sz="1400" b="1" dirty="0" err="1">
                <a:solidFill>
                  <a:srgbClr val="1A1A1A"/>
                </a:solidFill>
              </a:rPr>
              <a:t>najuspje</a:t>
            </a:r>
            <a:r>
              <a:rPr lang="hr-HR" sz="1400" b="1" dirty="0">
                <a:solidFill>
                  <a:srgbClr val="1A1A1A"/>
                </a:solidFill>
              </a:rPr>
              <a:t>š</a:t>
            </a:r>
            <a:r>
              <a:rPr sz="1400" b="1" dirty="0" err="1">
                <a:solidFill>
                  <a:srgbClr val="1A1A1A"/>
                </a:solidFill>
              </a:rPr>
              <a:t>niji</a:t>
            </a:r>
            <a:r>
              <a:rPr sz="1400" b="1" dirty="0">
                <a:solidFill>
                  <a:srgbClr val="1A1A1A"/>
                </a:solidFill>
              </a:rPr>
              <a:t> </a:t>
            </a:r>
            <a:r>
              <a:rPr sz="1400" b="1" dirty="0" err="1">
                <a:solidFill>
                  <a:srgbClr val="1A1A1A"/>
                </a:solidFill>
              </a:rPr>
              <a:t>klasifikator</a:t>
            </a:r>
            <a:r>
              <a:rPr sz="1400" b="1" dirty="0">
                <a:solidFill>
                  <a:srgbClr val="1A1A1A"/>
                </a:solidFill>
              </a:rPr>
              <a:t>: </a:t>
            </a:r>
            <a:r>
              <a:rPr sz="1400" dirty="0" err="1">
                <a:solidFill>
                  <a:srgbClr val="1A1A1A"/>
                </a:solidFill>
              </a:rPr>
              <a:t>savr</a:t>
            </a:r>
            <a:r>
              <a:rPr lang="hr-HR" sz="1400" dirty="0">
                <a:solidFill>
                  <a:srgbClr val="1A1A1A"/>
                </a:solidFill>
              </a:rPr>
              <a:t>š</a:t>
            </a:r>
            <a:r>
              <a:rPr sz="1400" dirty="0" err="1">
                <a:solidFill>
                  <a:srgbClr val="1A1A1A"/>
                </a:solidFill>
              </a:rPr>
              <a:t>en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rezultat</a:t>
            </a:r>
            <a:r>
              <a:rPr sz="1400" dirty="0">
                <a:solidFill>
                  <a:srgbClr val="1A1A1A"/>
                </a:solidFill>
              </a:rPr>
              <a:t> (AUC-ROC = 1.0, F1 = 1.0) </a:t>
            </a:r>
            <a:r>
              <a:rPr sz="1400" dirty="0" err="1">
                <a:solidFill>
                  <a:srgbClr val="1A1A1A"/>
                </a:solidFill>
              </a:rPr>
              <a:t>na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svih</a:t>
            </a:r>
            <a:r>
              <a:rPr sz="1400" dirty="0">
                <a:solidFill>
                  <a:srgbClr val="1A1A1A"/>
                </a:solidFill>
              </a:rPr>
              <a:t> 50 CV </a:t>
            </a:r>
            <a:r>
              <a:rPr sz="1400" dirty="0" err="1">
                <a:solidFill>
                  <a:srgbClr val="1A1A1A"/>
                </a:solidFill>
              </a:rPr>
              <a:t>iteracija</a:t>
            </a:r>
            <a:endParaRPr sz="1400" dirty="0">
              <a:solidFill>
                <a:srgbClr val="1A1A1A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dirty="0">
                <a:solidFill>
                  <a:srgbClr val="1A1A1A"/>
                </a:solidFill>
              </a:rPr>
              <a:t>• Feature selection </a:t>
            </a:r>
            <a:r>
              <a:rPr sz="1400" b="1" dirty="0" err="1">
                <a:solidFill>
                  <a:srgbClr val="1A1A1A"/>
                </a:solidFill>
              </a:rPr>
              <a:t>drasti</a:t>
            </a:r>
            <a:r>
              <a:rPr lang="hr-HR" sz="1400" b="1" dirty="0">
                <a:solidFill>
                  <a:srgbClr val="1A1A1A"/>
                </a:solidFill>
              </a:rPr>
              <a:t>č</a:t>
            </a:r>
            <a:r>
              <a:rPr sz="1400" b="1" dirty="0">
                <a:solidFill>
                  <a:srgbClr val="1A1A1A"/>
                </a:solidFill>
              </a:rPr>
              <a:t>no </a:t>
            </a:r>
            <a:r>
              <a:rPr sz="1400" b="1" dirty="0" err="1">
                <a:solidFill>
                  <a:srgbClr val="1A1A1A"/>
                </a:solidFill>
              </a:rPr>
              <a:t>reducira</a:t>
            </a:r>
            <a:r>
              <a:rPr sz="1400" b="1" dirty="0">
                <a:solidFill>
                  <a:srgbClr val="1A1A1A"/>
                </a:solidFill>
              </a:rPr>
              <a:t> </a:t>
            </a:r>
            <a:r>
              <a:rPr sz="1400" b="1" dirty="0" err="1">
                <a:solidFill>
                  <a:srgbClr val="1A1A1A"/>
                </a:solidFill>
              </a:rPr>
              <a:t>dimenzionalnost</a:t>
            </a:r>
            <a:r>
              <a:rPr sz="1400" b="1" dirty="0">
                <a:solidFill>
                  <a:srgbClr val="1A1A1A"/>
                </a:solidFill>
              </a:rPr>
              <a:t>: </a:t>
            </a:r>
            <a:r>
              <a:rPr sz="1400" dirty="0">
                <a:solidFill>
                  <a:srgbClr val="1A1A1A"/>
                </a:solidFill>
              </a:rPr>
              <a:t>RFECV </a:t>
            </a:r>
            <a:r>
              <a:rPr sz="1400" dirty="0" err="1">
                <a:solidFill>
                  <a:srgbClr val="1A1A1A"/>
                </a:solidFill>
              </a:rPr>
              <a:t>odabire</a:t>
            </a:r>
            <a:r>
              <a:rPr sz="1400" dirty="0">
                <a:solidFill>
                  <a:srgbClr val="1A1A1A"/>
                </a:solidFill>
              </a:rPr>
              <a:t> 29/117 </a:t>
            </a:r>
            <a:r>
              <a:rPr sz="1400" dirty="0" err="1">
                <a:solidFill>
                  <a:srgbClr val="1A1A1A"/>
                </a:solidFill>
              </a:rPr>
              <a:t>zna</a:t>
            </a:r>
            <a:r>
              <a:rPr lang="hr-HR" sz="1400" dirty="0">
                <a:solidFill>
                  <a:srgbClr val="1A1A1A"/>
                </a:solidFill>
              </a:rPr>
              <a:t>č</a:t>
            </a:r>
            <a:r>
              <a:rPr sz="1400" dirty="0" err="1">
                <a:solidFill>
                  <a:srgbClr val="1A1A1A"/>
                </a:solidFill>
              </a:rPr>
              <a:t>ajki</a:t>
            </a:r>
            <a:r>
              <a:rPr sz="1400" dirty="0">
                <a:solidFill>
                  <a:srgbClr val="1A1A1A"/>
                </a:solidFill>
              </a:rPr>
              <a:t> (75% </a:t>
            </a:r>
            <a:r>
              <a:rPr sz="1400" dirty="0" err="1">
                <a:solidFill>
                  <a:srgbClr val="1A1A1A"/>
                </a:solidFill>
              </a:rPr>
              <a:t>redukcija</a:t>
            </a:r>
            <a:r>
              <a:rPr sz="1400" dirty="0">
                <a:solidFill>
                  <a:srgbClr val="1A1A1A"/>
                </a:solidFill>
              </a:rPr>
              <a:t>) </a:t>
            </a:r>
            <a:r>
              <a:rPr sz="1400" dirty="0" err="1">
                <a:solidFill>
                  <a:srgbClr val="1A1A1A"/>
                </a:solidFill>
              </a:rPr>
              <a:t>uz</a:t>
            </a:r>
            <a:r>
              <a:rPr sz="1400" dirty="0">
                <a:solidFill>
                  <a:srgbClr val="1A1A1A"/>
                </a:solidFill>
              </a:rPr>
              <a:t> AUC-ROC = 1.0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dirty="0">
                <a:solidFill>
                  <a:srgbClr val="1A1A1A"/>
                </a:solidFill>
              </a:rPr>
              <a:t>• Miris </a:t>
            </a:r>
            <a:r>
              <a:rPr sz="1400" b="1" dirty="0" err="1">
                <a:solidFill>
                  <a:srgbClr val="1A1A1A"/>
                </a:solidFill>
              </a:rPr>
              <a:t>gljive</a:t>
            </a:r>
            <a:r>
              <a:rPr sz="1400" b="1" dirty="0">
                <a:solidFill>
                  <a:srgbClr val="1A1A1A"/>
                </a:solidFill>
              </a:rPr>
              <a:t> je </a:t>
            </a:r>
            <a:r>
              <a:rPr sz="1400" b="1" dirty="0" err="1">
                <a:solidFill>
                  <a:srgbClr val="1A1A1A"/>
                </a:solidFill>
              </a:rPr>
              <a:t>najva</a:t>
            </a:r>
            <a:r>
              <a:rPr lang="hr-HR" sz="1400" b="1" dirty="0">
                <a:solidFill>
                  <a:srgbClr val="1A1A1A"/>
                </a:solidFill>
              </a:rPr>
              <a:t>ž</a:t>
            </a:r>
            <a:r>
              <a:rPr sz="1400" b="1" dirty="0" err="1">
                <a:solidFill>
                  <a:srgbClr val="1A1A1A"/>
                </a:solidFill>
              </a:rPr>
              <a:t>niji</a:t>
            </a:r>
            <a:r>
              <a:rPr sz="1400" b="1" dirty="0">
                <a:solidFill>
                  <a:srgbClr val="1A1A1A"/>
                </a:solidFill>
              </a:rPr>
              <a:t> </a:t>
            </a:r>
            <a:r>
              <a:rPr sz="1400" b="1" dirty="0" err="1">
                <a:solidFill>
                  <a:srgbClr val="1A1A1A"/>
                </a:solidFill>
              </a:rPr>
              <a:t>prediktor</a:t>
            </a:r>
            <a:r>
              <a:rPr sz="1400" b="1" dirty="0">
                <a:solidFill>
                  <a:srgbClr val="1A1A1A"/>
                </a:solidFill>
              </a:rPr>
              <a:t>: </a:t>
            </a:r>
            <a:r>
              <a:rPr sz="1400" dirty="0" err="1">
                <a:solidFill>
                  <a:srgbClr val="1A1A1A"/>
                </a:solidFill>
              </a:rPr>
              <a:t>odor_n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i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odor_f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najva</a:t>
            </a:r>
            <a:r>
              <a:rPr lang="hr-HR" sz="1400" dirty="0">
                <a:solidFill>
                  <a:srgbClr val="1A1A1A"/>
                </a:solidFill>
              </a:rPr>
              <a:t>ž</a:t>
            </a:r>
            <a:r>
              <a:rPr sz="1400" dirty="0" err="1">
                <a:solidFill>
                  <a:srgbClr val="1A1A1A"/>
                </a:solidFill>
              </a:rPr>
              <a:t>nije</a:t>
            </a:r>
            <a:r>
              <a:rPr sz="1400" dirty="0">
                <a:solidFill>
                  <a:srgbClr val="1A1A1A"/>
                </a:solidFill>
              </a:rPr>
              <a:t> po SVIM </a:t>
            </a:r>
            <a:r>
              <a:rPr sz="1400" dirty="0" err="1">
                <a:solidFill>
                  <a:srgbClr val="1A1A1A"/>
                </a:solidFill>
              </a:rPr>
              <a:t>metodama</a:t>
            </a:r>
            <a:r>
              <a:rPr sz="1400" dirty="0">
                <a:solidFill>
                  <a:srgbClr val="1A1A1A"/>
                </a:solidFill>
              </a:rPr>
              <a:t> -- </a:t>
            </a:r>
            <a:r>
              <a:rPr sz="1400" dirty="0" err="1">
                <a:solidFill>
                  <a:srgbClr val="1A1A1A"/>
                </a:solidFill>
              </a:rPr>
              <a:t>biolo</a:t>
            </a:r>
            <a:r>
              <a:rPr lang="hr-HR" sz="1400" dirty="0">
                <a:solidFill>
                  <a:srgbClr val="1A1A1A"/>
                </a:solidFill>
              </a:rPr>
              <a:t>š</a:t>
            </a:r>
            <a:r>
              <a:rPr sz="1400" dirty="0">
                <a:solidFill>
                  <a:srgbClr val="1A1A1A"/>
                </a:solidFill>
              </a:rPr>
              <a:t>ki </a:t>
            </a:r>
            <a:r>
              <a:rPr sz="1400" dirty="0" err="1">
                <a:solidFill>
                  <a:srgbClr val="1A1A1A"/>
                </a:solidFill>
              </a:rPr>
              <a:t>razumno</a:t>
            </a:r>
            <a:r>
              <a:rPr sz="1400" dirty="0">
                <a:solidFill>
                  <a:srgbClr val="1A1A1A"/>
                </a:solidFill>
              </a:rPr>
              <a:t> (</a:t>
            </a:r>
            <a:r>
              <a:rPr sz="1400" dirty="0" err="1">
                <a:solidFill>
                  <a:srgbClr val="1A1A1A"/>
                </a:solidFill>
              </a:rPr>
              <a:t>toksini</a:t>
            </a:r>
            <a:r>
              <a:rPr sz="1400" dirty="0">
                <a:solidFill>
                  <a:srgbClr val="1A1A1A"/>
                </a:solidFill>
              </a:rPr>
              <a:t> = </a:t>
            </a:r>
            <a:r>
              <a:rPr sz="1400" dirty="0" err="1">
                <a:solidFill>
                  <a:srgbClr val="1A1A1A"/>
                </a:solidFill>
              </a:rPr>
              <a:t>miris</a:t>
            </a:r>
            <a:r>
              <a:rPr sz="1400" dirty="0">
                <a:solidFill>
                  <a:srgbClr val="1A1A1A"/>
                </a:solidFill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dirty="0">
                <a:solidFill>
                  <a:srgbClr val="1A1A1A"/>
                </a:solidFill>
              </a:rPr>
              <a:t>• </a:t>
            </a:r>
            <a:r>
              <a:rPr sz="1400" b="1" dirty="0" err="1">
                <a:solidFill>
                  <a:srgbClr val="1A1A1A"/>
                </a:solidFill>
              </a:rPr>
              <a:t>Statisti</a:t>
            </a:r>
            <a:r>
              <a:rPr lang="hr-HR" sz="1400" b="1" dirty="0">
                <a:solidFill>
                  <a:srgbClr val="1A1A1A"/>
                </a:solidFill>
              </a:rPr>
              <a:t>č</a:t>
            </a:r>
            <a:r>
              <a:rPr sz="1400" b="1" dirty="0" err="1">
                <a:solidFill>
                  <a:srgbClr val="1A1A1A"/>
                </a:solidFill>
              </a:rPr>
              <a:t>ke</a:t>
            </a:r>
            <a:r>
              <a:rPr sz="1400" b="1" dirty="0">
                <a:solidFill>
                  <a:srgbClr val="1A1A1A"/>
                </a:solidFill>
              </a:rPr>
              <a:t> </a:t>
            </a:r>
            <a:r>
              <a:rPr sz="1400" b="1" dirty="0" err="1">
                <a:solidFill>
                  <a:srgbClr val="1A1A1A"/>
                </a:solidFill>
              </a:rPr>
              <a:t>metode</a:t>
            </a:r>
            <a:r>
              <a:rPr sz="1400" b="1" dirty="0">
                <a:solidFill>
                  <a:srgbClr val="1A1A1A"/>
                </a:solidFill>
              </a:rPr>
              <a:t> </a:t>
            </a:r>
            <a:r>
              <a:rPr sz="1400" b="1" dirty="0" err="1">
                <a:solidFill>
                  <a:srgbClr val="1A1A1A"/>
                </a:solidFill>
              </a:rPr>
              <a:t>selekcije</a:t>
            </a:r>
            <a:r>
              <a:rPr sz="1400" b="1" dirty="0">
                <a:solidFill>
                  <a:srgbClr val="1A1A1A"/>
                </a:solidFill>
              </a:rPr>
              <a:t> </a:t>
            </a:r>
            <a:r>
              <a:rPr sz="1400" b="1" dirty="0" err="1">
                <a:solidFill>
                  <a:srgbClr val="1A1A1A"/>
                </a:solidFill>
              </a:rPr>
              <a:t>su</a:t>
            </a:r>
            <a:r>
              <a:rPr sz="1400" b="1" dirty="0">
                <a:solidFill>
                  <a:srgbClr val="1A1A1A"/>
                </a:solidFill>
              </a:rPr>
              <a:t> </a:t>
            </a:r>
            <a:r>
              <a:rPr sz="1400" b="1" dirty="0" err="1">
                <a:solidFill>
                  <a:srgbClr val="1A1A1A"/>
                </a:solidFill>
              </a:rPr>
              <a:t>konzistentne</a:t>
            </a:r>
            <a:r>
              <a:rPr sz="1400" b="1" dirty="0">
                <a:solidFill>
                  <a:srgbClr val="1A1A1A"/>
                </a:solidFill>
              </a:rPr>
              <a:t>: </a:t>
            </a:r>
            <a:r>
              <a:rPr sz="1400" dirty="0">
                <a:solidFill>
                  <a:srgbClr val="1A1A1A"/>
                </a:solidFill>
              </a:rPr>
              <a:t>4/5 </a:t>
            </a:r>
            <a:r>
              <a:rPr sz="1400" dirty="0" err="1">
                <a:solidFill>
                  <a:srgbClr val="1A1A1A"/>
                </a:solidFill>
              </a:rPr>
              <a:t>testova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odabiru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identi</a:t>
            </a:r>
            <a:r>
              <a:rPr lang="hr-HR" sz="1400" dirty="0">
                <a:solidFill>
                  <a:srgbClr val="1A1A1A"/>
                </a:solidFill>
              </a:rPr>
              <a:t>č</a:t>
            </a:r>
            <a:r>
              <a:rPr sz="1400" dirty="0">
                <a:solidFill>
                  <a:srgbClr val="1A1A1A"/>
                </a:solidFill>
              </a:rPr>
              <a:t>an </a:t>
            </a:r>
            <a:r>
              <a:rPr sz="1400" dirty="0" err="1">
                <a:solidFill>
                  <a:srgbClr val="1A1A1A"/>
                </a:solidFill>
              </a:rPr>
              <a:t>skup</a:t>
            </a:r>
            <a:r>
              <a:rPr sz="1400" dirty="0">
                <a:solidFill>
                  <a:srgbClr val="1A1A1A"/>
                </a:solidFill>
              </a:rPr>
              <a:t> top </a:t>
            </a:r>
            <a:r>
              <a:rPr sz="1400" dirty="0" err="1">
                <a:solidFill>
                  <a:srgbClr val="1A1A1A"/>
                </a:solidFill>
              </a:rPr>
              <a:t>zna</a:t>
            </a:r>
            <a:r>
              <a:rPr lang="hr-HR" sz="1400" dirty="0">
                <a:solidFill>
                  <a:srgbClr val="1A1A1A"/>
                </a:solidFill>
              </a:rPr>
              <a:t>č</a:t>
            </a:r>
            <a:r>
              <a:rPr sz="1400" dirty="0" err="1">
                <a:solidFill>
                  <a:srgbClr val="1A1A1A"/>
                </a:solidFill>
              </a:rPr>
              <a:t>ajki</a:t>
            </a:r>
            <a:endParaRPr sz="1400" dirty="0">
              <a:solidFill>
                <a:srgbClr val="1A1A1A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dirty="0">
                <a:solidFill>
                  <a:srgbClr val="1A1A1A"/>
                </a:solidFill>
              </a:rPr>
              <a:t>• </a:t>
            </a:r>
            <a:r>
              <a:rPr sz="1400" b="1" dirty="0" err="1">
                <a:solidFill>
                  <a:srgbClr val="1A1A1A"/>
                </a:solidFill>
              </a:rPr>
              <a:t>Integrirani</a:t>
            </a:r>
            <a:r>
              <a:rPr sz="1400" b="1" dirty="0">
                <a:solidFill>
                  <a:srgbClr val="1A1A1A"/>
                </a:solidFill>
              </a:rPr>
              <a:t> </a:t>
            </a:r>
            <a:r>
              <a:rPr sz="1400" b="1" dirty="0" err="1">
                <a:solidFill>
                  <a:srgbClr val="1A1A1A"/>
                </a:solidFill>
              </a:rPr>
              <a:t>selektori</a:t>
            </a:r>
            <a:r>
              <a:rPr sz="1400" b="1" dirty="0">
                <a:solidFill>
                  <a:srgbClr val="1A1A1A"/>
                </a:solidFill>
              </a:rPr>
              <a:t> </a:t>
            </a:r>
            <a:r>
              <a:rPr sz="1400" b="1" dirty="0" err="1">
                <a:solidFill>
                  <a:srgbClr val="1A1A1A"/>
                </a:solidFill>
              </a:rPr>
              <a:t>nadmasuju</a:t>
            </a:r>
            <a:r>
              <a:rPr sz="1400" b="1" dirty="0">
                <a:solidFill>
                  <a:srgbClr val="1A1A1A"/>
                </a:solidFill>
              </a:rPr>
              <a:t> </a:t>
            </a:r>
            <a:r>
              <a:rPr sz="1400" b="1" dirty="0" err="1">
                <a:solidFill>
                  <a:srgbClr val="1A1A1A"/>
                </a:solidFill>
              </a:rPr>
              <a:t>statisti</a:t>
            </a:r>
            <a:r>
              <a:rPr lang="hr-HR" sz="1400" b="1" dirty="0">
                <a:solidFill>
                  <a:srgbClr val="1A1A1A"/>
                </a:solidFill>
              </a:rPr>
              <a:t>č</a:t>
            </a:r>
            <a:r>
              <a:rPr sz="1400" b="1" dirty="0" err="1">
                <a:solidFill>
                  <a:srgbClr val="1A1A1A"/>
                </a:solidFill>
              </a:rPr>
              <a:t>ke</a:t>
            </a:r>
            <a:r>
              <a:rPr sz="1400" b="1" dirty="0">
                <a:solidFill>
                  <a:srgbClr val="1A1A1A"/>
                </a:solidFill>
              </a:rPr>
              <a:t>: </a:t>
            </a:r>
            <a:r>
              <a:rPr sz="1400" dirty="0" err="1">
                <a:solidFill>
                  <a:srgbClr val="1A1A1A"/>
                </a:solidFill>
              </a:rPr>
              <a:t>zadr</a:t>
            </a:r>
            <a:r>
              <a:rPr lang="hr-HR" sz="1400" dirty="0">
                <a:solidFill>
                  <a:srgbClr val="1A1A1A"/>
                </a:solidFill>
              </a:rPr>
              <a:t>ž</a:t>
            </a:r>
            <a:r>
              <a:rPr sz="1400" dirty="0" err="1">
                <a:solidFill>
                  <a:srgbClr val="1A1A1A"/>
                </a:solidFill>
              </a:rPr>
              <a:t>avaju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performanse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bliske</a:t>
            </a:r>
            <a:r>
              <a:rPr sz="1400" dirty="0">
                <a:solidFill>
                  <a:srgbClr val="1A1A1A"/>
                </a:solidFill>
              </a:rPr>
              <a:t> baseline </a:t>
            </a:r>
            <a:r>
              <a:rPr sz="1400" dirty="0" err="1">
                <a:solidFill>
                  <a:srgbClr val="1A1A1A"/>
                </a:solidFill>
              </a:rPr>
              <a:t>uz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redukciju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dimenzionalnosti</a:t>
            </a:r>
            <a:endParaRPr sz="1400" dirty="0">
              <a:solidFill>
                <a:srgbClr val="1A1A1A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dirty="0">
                <a:solidFill>
                  <a:srgbClr val="1A1A1A"/>
                </a:solidFill>
              </a:rPr>
              <a:t>• </a:t>
            </a:r>
            <a:r>
              <a:rPr sz="1400" b="1" dirty="0" err="1">
                <a:solidFill>
                  <a:srgbClr val="1A1A1A"/>
                </a:solidFill>
              </a:rPr>
              <a:t>Friedmanov</a:t>
            </a:r>
            <a:r>
              <a:rPr sz="1400" b="1" dirty="0">
                <a:solidFill>
                  <a:srgbClr val="1A1A1A"/>
                </a:solidFill>
              </a:rPr>
              <a:t> test </a:t>
            </a:r>
            <a:r>
              <a:rPr sz="1400" b="1" dirty="0" err="1">
                <a:solidFill>
                  <a:srgbClr val="1A1A1A"/>
                </a:solidFill>
              </a:rPr>
              <a:t>potvr</a:t>
            </a:r>
            <a:r>
              <a:rPr lang="hr-HR" sz="1400" b="1" dirty="0">
                <a:solidFill>
                  <a:srgbClr val="1A1A1A"/>
                </a:solidFill>
              </a:rPr>
              <a:t>đ</a:t>
            </a:r>
            <a:r>
              <a:rPr sz="1400" b="1" dirty="0" err="1">
                <a:solidFill>
                  <a:srgbClr val="1A1A1A"/>
                </a:solidFill>
              </a:rPr>
              <a:t>uje</a:t>
            </a:r>
            <a:r>
              <a:rPr sz="1400" b="1" dirty="0">
                <a:solidFill>
                  <a:srgbClr val="1A1A1A"/>
                </a:solidFill>
              </a:rPr>
              <a:t>: </a:t>
            </a:r>
            <a:r>
              <a:rPr sz="1400" dirty="0" err="1">
                <a:solidFill>
                  <a:srgbClr val="1A1A1A"/>
                </a:solidFill>
              </a:rPr>
              <a:t>razlike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izme</a:t>
            </a:r>
            <a:r>
              <a:rPr lang="hr-HR" sz="1400" dirty="0">
                <a:solidFill>
                  <a:srgbClr val="1A1A1A"/>
                </a:solidFill>
              </a:rPr>
              <a:t>đ</a:t>
            </a:r>
            <a:r>
              <a:rPr sz="1400" dirty="0">
                <a:solidFill>
                  <a:srgbClr val="1A1A1A"/>
                </a:solidFill>
              </a:rPr>
              <a:t>u </a:t>
            </a:r>
            <a:r>
              <a:rPr sz="1400" dirty="0" err="1">
                <a:solidFill>
                  <a:srgbClr val="1A1A1A"/>
                </a:solidFill>
              </a:rPr>
              <a:t>modela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su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statisti</a:t>
            </a:r>
            <a:r>
              <a:rPr lang="hr-HR" sz="1400" dirty="0">
                <a:solidFill>
                  <a:srgbClr val="1A1A1A"/>
                </a:solidFill>
              </a:rPr>
              <a:t>č</a:t>
            </a:r>
            <a:r>
              <a:rPr sz="1400" dirty="0">
                <a:solidFill>
                  <a:srgbClr val="1A1A1A"/>
                </a:solidFill>
              </a:rPr>
              <a:t>ki </a:t>
            </a:r>
            <a:r>
              <a:rPr sz="1400" dirty="0" err="1">
                <a:solidFill>
                  <a:srgbClr val="1A1A1A"/>
                </a:solidFill>
              </a:rPr>
              <a:t>zna</a:t>
            </a:r>
            <a:r>
              <a:rPr lang="hr-HR" sz="1400" dirty="0">
                <a:solidFill>
                  <a:srgbClr val="1A1A1A"/>
                </a:solidFill>
              </a:rPr>
              <a:t>č</a:t>
            </a:r>
            <a:r>
              <a:rPr sz="1400" dirty="0" err="1">
                <a:solidFill>
                  <a:srgbClr val="1A1A1A"/>
                </a:solidFill>
              </a:rPr>
              <a:t>ajne</a:t>
            </a:r>
            <a:r>
              <a:rPr sz="1400" dirty="0">
                <a:solidFill>
                  <a:srgbClr val="1A1A1A"/>
                </a:solidFill>
              </a:rPr>
              <a:t> (p ~ 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297680"/>
            <a:ext cx="7863840" cy="20116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74400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 err="1">
                <a:solidFill>
                  <a:srgbClr val="2E7D32"/>
                </a:solidFill>
              </a:rPr>
              <a:t>Prakti</a:t>
            </a:r>
            <a:r>
              <a:rPr lang="hr-HR" sz="1500" b="1" dirty="0">
                <a:solidFill>
                  <a:srgbClr val="2E7D32"/>
                </a:solidFill>
              </a:rPr>
              <a:t>č</a:t>
            </a:r>
            <a:r>
              <a:rPr sz="1500" b="1" dirty="0" err="1">
                <a:solidFill>
                  <a:srgbClr val="2E7D32"/>
                </a:solidFill>
              </a:rPr>
              <a:t>na</a:t>
            </a:r>
            <a:r>
              <a:rPr sz="1500" b="1" dirty="0">
                <a:solidFill>
                  <a:srgbClr val="2E7D32"/>
                </a:solidFill>
              </a:rPr>
              <a:t> </a:t>
            </a:r>
            <a:r>
              <a:rPr sz="1500" b="1" dirty="0" err="1">
                <a:solidFill>
                  <a:srgbClr val="2E7D32"/>
                </a:solidFill>
              </a:rPr>
              <a:t>primjena</a:t>
            </a:r>
            <a:r>
              <a:rPr sz="1500" b="1" dirty="0">
                <a:solidFill>
                  <a:srgbClr val="2E7D32"/>
                </a:solidFill>
              </a:rP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7498079" cy="1097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</a:rPr>
              <a:t>• </a:t>
            </a:r>
            <a:r>
              <a:rPr sz="1300" dirty="0" err="1">
                <a:solidFill>
                  <a:srgbClr val="1A1A1A"/>
                </a:solidFill>
              </a:rPr>
              <a:t>Mobilne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aplikacije</a:t>
            </a:r>
            <a:r>
              <a:rPr sz="1300" dirty="0">
                <a:solidFill>
                  <a:srgbClr val="1A1A1A"/>
                </a:solidFill>
              </a:rPr>
              <a:t> za </a:t>
            </a:r>
            <a:r>
              <a:rPr sz="1300" dirty="0" err="1">
                <a:solidFill>
                  <a:srgbClr val="1A1A1A"/>
                </a:solidFill>
              </a:rPr>
              <a:t>procjenu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jestivosti</a:t>
            </a:r>
            <a:r>
              <a:rPr sz="1300" dirty="0">
                <a:solidFill>
                  <a:srgbClr val="1A1A1A"/>
                </a:solidFill>
              </a:rPr>
              <a:t> (5 </a:t>
            </a:r>
            <a:r>
              <a:rPr sz="1300" dirty="0" err="1">
                <a:solidFill>
                  <a:srgbClr val="1A1A1A"/>
                </a:solidFill>
              </a:rPr>
              <a:t>pitanja</a:t>
            </a:r>
            <a:r>
              <a:rPr sz="1300" dirty="0">
                <a:solidFill>
                  <a:srgbClr val="1A1A1A"/>
                </a:solidFill>
              </a:rPr>
              <a:t>, AUC &gt; 0.97)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</a:rPr>
              <a:t>• Edukacija </a:t>
            </a:r>
            <a:r>
              <a:rPr sz="1300" dirty="0" err="1">
                <a:solidFill>
                  <a:srgbClr val="1A1A1A"/>
                </a:solidFill>
              </a:rPr>
              <a:t>skuplja</a:t>
            </a:r>
            <a:r>
              <a:rPr lang="hr-HR" sz="1300" dirty="0">
                <a:solidFill>
                  <a:srgbClr val="1A1A1A"/>
                </a:solidFill>
              </a:rPr>
              <a:t>č</a:t>
            </a:r>
            <a:r>
              <a:rPr sz="1300" dirty="0">
                <a:solidFill>
                  <a:srgbClr val="1A1A1A"/>
                </a:solidFill>
              </a:rPr>
              <a:t>a: </a:t>
            </a:r>
            <a:r>
              <a:rPr sz="1300" dirty="0" err="1">
                <a:solidFill>
                  <a:srgbClr val="1A1A1A"/>
                </a:solidFill>
              </a:rPr>
              <a:t>miris</a:t>
            </a:r>
            <a:r>
              <a:rPr sz="1300" dirty="0">
                <a:solidFill>
                  <a:srgbClr val="1A1A1A"/>
                </a:solidFill>
              </a:rPr>
              <a:t>, tip </a:t>
            </a:r>
            <a:r>
              <a:rPr sz="1300" dirty="0" err="1">
                <a:solidFill>
                  <a:srgbClr val="1A1A1A"/>
                </a:solidFill>
              </a:rPr>
              <a:t>prstena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i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povr</a:t>
            </a:r>
            <a:r>
              <a:rPr lang="hr-HR" sz="1300" dirty="0">
                <a:solidFill>
                  <a:srgbClr val="1A1A1A"/>
                </a:solidFill>
              </a:rPr>
              <a:t>š</a:t>
            </a:r>
            <a:r>
              <a:rPr sz="1300" dirty="0" err="1">
                <a:solidFill>
                  <a:srgbClr val="1A1A1A"/>
                </a:solidFill>
              </a:rPr>
              <a:t>ina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stabljike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kao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kljucni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indikatori</a:t>
            </a:r>
            <a:endParaRPr sz="1300" dirty="0">
              <a:solidFill>
                <a:srgbClr val="1A1A1A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</a:rPr>
              <a:t>• </a:t>
            </a:r>
            <a:r>
              <a:rPr sz="1300" dirty="0" err="1">
                <a:solidFill>
                  <a:srgbClr val="1A1A1A"/>
                </a:solidFill>
              </a:rPr>
              <a:t>Metodolo</a:t>
            </a:r>
            <a:r>
              <a:rPr lang="hr-HR" sz="1300" dirty="0">
                <a:solidFill>
                  <a:srgbClr val="1A1A1A"/>
                </a:solidFill>
              </a:rPr>
              <a:t>š</a:t>
            </a:r>
            <a:r>
              <a:rPr sz="1300" dirty="0">
                <a:solidFill>
                  <a:srgbClr val="1A1A1A"/>
                </a:solidFill>
              </a:rPr>
              <a:t>ki </a:t>
            </a:r>
            <a:r>
              <a:rPr sz="1300" dirty="0" err="1">
                <a:solidFill>
                  <a:srgbClr val="1A1A1A"/>
                </a:solidFill>
              </a:rPr>
              <a:t>okvir</a:t>
            </a:r>
            <a:r>
              <a:rPr sz="1300" dirty="0">
                <a:solidFill>
                  <a:srgbClr val="1A1A1A"/>
                </a:solidFill>
              </a:rPr>
              <a:t> (8 </a:t>
            </a:r>
            <a:r>
              <a:rPr sz="1300" dirty="0" err="1">
                <a:solidFill>
                  <a:srgbClr val="1A1A1A"/>
                </a:solidFill>
              </a:rPr>
              <a:t>metoda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selekcije</a:t>
            </a:r>
            <a:r>
              <a:rPr sz="1300" dirty="0">
                <a:solidFill>
                  <a:srgbClr val="1A1A1A"/>
                </a:solidFill>
              </a:rPr>
              <a:t>, 6 </a:t>
            </a:r>
            <a:r>
              <a:rPr sz="1300" dirty="0" err="1">
                <a:solidFill>
                  <a:srgbClr val="1A1A1A"/>
                </a:solidFill>
              </a:rPr>
              <a:t>klasifikatora</a:t>
            </a:r>
            <a:r>
              <a:rPr sz="1300" dirty="0">
                <a:solidFill>
                  <a:srgbClr val="1A1A1A"/>
                </a:solidFill>
              </a:rPr>
              <a:t>, 50 CV iter.) </a:t>
            </a:r>
            <a:r>
              <a:rPr sz="1300" dirty="0" err="1">
                <a:solidFill>
                  <a:srgbClr val="1A1A1A"/>
                </a:solidFill>
              </a:rPr>
              <a:t>primjenjiv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na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druge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probleme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binarne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klasifikacije</a:t>
            </a:r>
            <a:endParaRPr sz="1300" dirty="0">
              <a:solidFill>
                <a:srgbClr val="1A1A1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Skriptni jezici - Projektni zadatak   |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1499</Words>
  <Application>Microsoft Office PowerPoint</Application>
  <PresentationFormat>On-screen Show (4:3)</PresentationFormat>
  <Paragraphs>309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Tin Brletić</cp:lastModifiedBy>
  <cp:revision>5</cp:revision>
  <dcterms:created xsi:type="dcterms:W3CDTF">2013-01-27T09:14:16Z</dcterms:created>
  <dcterms:modified xsi:type="dcterms:W3CDTF">2026-02-13T00:10:08Z</dcterms:modified>
  <cp:category/>
</cp:coreProperties>
</file>